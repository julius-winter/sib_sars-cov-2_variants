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70" r:id="rId11"/>
    <p:sldId id="271" r:id="rId12"/>
    <p:sldId id="272" r:id="rId13"/>
    <p:sldId id="265" r:id="rId14"/>
    <p:sldId id="267" r:id="rId15"/>
    <p:sldId id="266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7DAE"/>
    <a:srgbClr val="20558A"/>
    <a:srgbClr val="FFFFFF"/>
    <a:srgbClr val="156082"/>
    <a:srgbClr val="AB7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5"/>
    <p:restoredTop sz="91061"/>
  </p:normalViewPr>
  <p:slideViewPr>
    <p:cSldViewPr snapToGrid="0">
      <p:cViewPr varScale="1">
        <p:scale>
          <a:sx n="113" d="100"/>
          <a:sy n="113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4AF06-F820-0E48-9E4F-6E1CA012499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1A7965-DE76-B84E-8824-69CD3E716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Humans about 19’000-20’000 protein coding genes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A7965-DE76-B84E-8824-69CD3E716B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56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certain amount of mutations, a virus can gain an evolutionary advantage over others. This is when we speak of a variant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A7965-DE76-B84E-8824-69CD3E716B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0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5D8F-390F-A23F-6D3F-F4E2B6C9D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81714-874C-20A2-1F4B-598EB08B0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F82C3-D322-2327-FDD7-36153289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A32C9-2965-EE5E-9EE1-922DFB11D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CE100-7565-316A-9FA5-83765AE7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6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C1D0-47AE-4E46-56D5-A9734682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E2FEE-889A-20EE-2D81-CDC23D386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62AF-1930-2296-0154-B22F4585A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BC47D-8050-C521-4ACA-47E130483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E33B-C725-94E7-5E9C-ECAA5CA3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71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E856-4CC4-B499-B37D-D776407D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27B92-C2B4-8FD6-BAB7-405FC9A90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DA636-935E-E1F5-13C7-3FBB2B30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F3C7D-6478-B626-89B1-9E2F022F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E0EFF-40AC-496C-CCF1-B1C079BB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2819-BCC0-263B-9871-71EAB63D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2868F-3DC1-B829-98F7-A96455CCD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F4087-1432-D517-A9BA-0B2AB84FD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94369-487D-581D-26A0-1CE0A605F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B7F39-6972-A70B-88CA-14A514BF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E4E19-CA26-B97C-DFCB-B72DF8C2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2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1FFD-E818-C5F4-1208-B788EC33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44111-C23B-8608-9C7A-CD414DB89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1374F-CF7B-A032-5A56-5EF6B061F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94037-E0BD-A219-8CCF-3171D0B4E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CE7B5-EEE2-39A4-3FB8-C1849E85A5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3E7EA-E7D3-4823-666C-4EFBA605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62E5E4-BCCC-FA35-CDA0-433CDF99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B4931-82DB-BF69-42CB-77D7452F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5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6D74-1B79-2808-7FD1-4B4F7DAC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6C298-9584-9F12-D285-DDEBDD9A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C7B13-DBC4-6793-F24D-F5EE7E91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BA745-4764-08A1-04C0-2F21A510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2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FA9B9-D826-82DD-10FB-9A602249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384582-05C6-1124-A7F0-2B5903B1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C977C-44B7-BCF4-C7C7-D7100BF2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4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7A2D-472D-BEBF-7CA6-E04BB7DB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A3345-952F-0669-025A-851D3612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EF9B5-AD3A-B9CA-CBDA-942EB4E80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F72F7-6919-E34D-C229-B2E36CA4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E2578-3CA1-90BD-FD91-E87053F1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73D6B-EA4D-0382-2417-28F708EA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1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D02E-A911-D92A-0E7C-7F686612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91DB-A226-DCEE-6A66-49F0451D55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CDE4A-45F1-55E6-097D-23E20F5B4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D63F3-DBCC-B9F6-BDEE-66D8635D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965A5-B631-2E9F-B0DF-DE2E92D7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A8104-A164-7F94-4835-0F1529DC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6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2B84-A09C-D562-7625-57B678BE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DD008-3C1A-3964-1E60-43968FCBD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8C6A1-12EF-A662-C0ED-4EC47544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169C0-D5CF-4759-D0F5-BF563FDF6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BE56B-700C-2B37-1D91-DF8020AE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3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3425D-909D-1C0A-60DB-879E2D2D9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B038E-A2D7-217F-2BC7-60830C496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EF218-7DC6-3EC6-D694-19EC2A16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D9ED2-2AC5-CE75-060C-ED1707EA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C7889-5981-36C7-4741-2A586D4A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36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E55F57-DBFB-9091-C959-D5F17DCFC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05121-C567-C4C2-1FC8-EE3D3AB6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609FF-96DA-5B1A-C331-DB2A571C3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82934-4570-374B-9F9D-A7B95142346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D454-0CD1-A07F-3413-5B96E1178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64B0-81BB-0994-BB19-AE6ACF35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168DB-DDAC-A64A-89B0-B51C92325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1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viralzone.expasy.org/5216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iralzone.expasy.org/678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ralzone.expasy.org/678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A04C42-7AB5-E2B3-ACDE-5AB512A43A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0000"/>
          </a:blip>
          <a:srcRect/>
          <a:stretch>
            <a:fillRect/>
          </a:stretch>
        </p:blipFill>
        <p:spPr>
          <a:xfrm>
            <a:off x="-1628322" y="0"/>
            <a:ext cx="1386285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C4E643-48D3-CD5D-4D1D-6D94CF9FF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8" y="5673271"/>
            <a:ext cx="1982268" cy="1054100"/>
          </a:xfrm>
          <a:prstGeom prst="rect">
            <a:avLst/>
          </a:prstGeom>
        </p:spPr>
      </p:pic>
      <p:pic>
        <p:nvPicPr>
          <p:cNvPr id="8" name="Picture 7" descr="Coronavirus particle, illustration">
            <a:extLst>
              <a:ext uri="{FF2B5EF4-FFF2-40B4-BE49-F238E27FC236}">
                <a16:creationId xmlns:a16="http://schemas.microsoft.com/office/drawing/2014/main" id="{A723E1EA-CCF2-3A7D-2003-C2D143962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75" b="90625" l="10000" r="90000">
                        <a14:foregroundMark x1="43250" y1="10125" x2="42875" y2="11875"/>
                        <a14:foregroundMark x1="54625" y1="9875" x2="58375" y2="12750"/>
                        <a14:foregroundMark x1="77000" y1="22500" x2="75875" y2="26750"/>
                        <a14:foregroundMark x1="86250" y1="35500" x2="84500" y2="38250"/>
                        <a14:foregroundMark x1="86250" y1="49500" x2="86875" y2="52750"/>
                        <a14:foregroundMark x1="84875" y1="60875" x2="85625" y2="66125"/>
                        <a14:foregroundMark x1="75625" y1="75125" x2="79250" y2="76625"/>
                        <a14:foregroundMark x1="66250" y1="83750" x2="69500" y2="85000"/>
                        <a14:foregroundMark x1="49000" y1="85625" x2="48625" y2="89125"/>
                        <a14:foregroundMark x1="55875" y1="89125" x2="53250" y2="90625"/>
                        <a14:foregroundMark x1="41250" y1="89000" x2="41250" y2="89000"/>
                        <a14:foregroundMark x1="31875" y1="82875" x2="31875" y2="82875"/>
                        <a14:foregroundMark x1="20125" y1="75375" x2="20125" y2="75375"/>
                        <a14:foregroundMark x1="14750" y1="64125" x2="14750" y2="64125"/>
                        <a14:foregroundMark x1="12125" y1="47750" x2="12125" y2="47750"/>
                        <a14:foregroundMark x1="12750" y1="35875" x2="12750" y2="35875"/>
                        <a14:foregroundMark x1="23375" y1="23125" x2="23375" y2="23125"/>
                        <a14:foregroundMark x1="40125" y1="88375" x2="40125" y2="88375"/>
                        <a14:foregroundMark x1="39375" y1="89250" x2="39375" y2="89250"/>
                        <a14:foregroundMark x1="41000" y1="89125" x2="41875" y2="89750"/>
                        <a14:backgroundMark x1="60375" y1="87500" x2="60375" y2="87500"/>
                        <a14:backgroundMark x1="52250" y1="53500" x2="52250" y2="53500"/>
                        <a14:backgroundMark x1="53125" y1="86500" x2="53125" y2="86500"/>
                        <a14:backgroundMark x1="52750" y1="87000" x2="52750" y2="88000"/>
                        <a14:backgroundMark x1="45875" y1="73000" x2="45875" y2="73000"/>
                        <a14:backgroundMark x1="44500" y1="87000" x2="45375" y2="88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41579" y="-107764"/>
            <a:ext cx="3950421" cy="39504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8A516E-EAD7-8ABD-01EB-9F85CECFB19F}"/>
              </a:ext>
            </a:extLst>
          </p:cNvPr>
          <p:cNvSpPr txBox="1"/>
          <p:nvPr/>
        </p:nvSpPr>
        <p:spPr>
          <a:xfrm>
            <a:off x="98878" y="1867446"/>
            <a:ext cx="85418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Chasing the coronavirus</a:t>
            </a:r>
            <a:endParaRPr lang="en-US" sz="3600" dirty="0"/>
          </a:p>
          <a:p>
            <a:r>
              <a:rPr lang="en-US" sz="2800" dirty="0"/>
              <a:t>a global, collaborative effort to identify the next variant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4BCE0A-B96D-DD80-2DB3-824CE6A11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2155" y="6412408"/>
            <a:ext cx="830967" cy="3149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DEBF15-3C4E-8DA6-F418-1D72E077F65F}"/>
              </a:ext>
            </a:extLst>
          </p:cNvPr>
          <p:cNvSpPr txBox="1"/>
          <p:nvPr/>
        </p:nvSpPr>
        <p:spPr>
          <a:xfrm>
            <a:off x="98878" y="3429000"/>
            <a:ext cx="2871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Julius Winter</a:t>
            </a:r>
          </a:p>
          <a:p>
            <a:r>
              <a:rPr lang="en-US" dirty="0"/>
              <a:t>Clinical bioinformatics, SIB</a:t>
            </a:r>
          </a:p>
        </p:txBody>
      </p:sp>
      <p:pic>
        <p:nvPicPr>
          <p:cNvPr id="14" name="Graphic 13" descr="In the Light of Evolution">
            <a:extLst>
              <a:ext uri="{FF2B5EF4-FFF2-40B4-BE49-F238E27FC236}">
                <a16:creationId xmlns:a16="http://schemas.microsoft.com/office/drawing/2014/main" id="{174F53F9-1C47-FFE6-0327-A724C7027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0262" y="5980594"/>
            <a:ext cx="3076167" cy="4394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0A5A60-A5BE-114B-7DE6-8F8586A87C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0441" y="5980594"/>
            <a:ext cx="2391138" cy="5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19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8486C-11D1-A9CF-FC45-06849180682F}"/>
              </a:ext>
            </a:extLst>
          </p:cNvPr>
          <p:cNvSpPr txBox="1"/>
          <p:nvPr/>
        </p:nvSpPr>
        <p:spPr>
          <a:xfrm>
            <a:off x="167148" y="227441"/>
            <a:ext cx="2635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Wer</a:t>
            </a:r>
            <a:r>
              <a:rPr lang="en-US" sz="3600" dirty="0"/>
              <a:t> bin ich?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6E959-1D94-E074-88E1-0AE6FDFD79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63" t="6973"/>
          <a:stretch>
            <a:fillRect/>
          </a:stretch>
        </p:blipFill>
        <p:spPr>
          <a:xfrm>
            <a:off x="167148" y="1050674"/>
            <a:ext cx="3737340" cy="51485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D45DA3-7CBC-65E3-135B-1607F6143C7A}"/>
              </a:ext>
            </a:extLst>
          </p:cNvPr>
          <p:cNvSpPr txBox="1"/>
          <p:nvPr/>
        </p:nvSpPr>
        <p:spPr>
          <a:xfrm>
            <a:off x="4103019" y="1050674"/>
            <a:ext cx="1992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Julius Winter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77437-1B70-5499-FB65-B0458AEB096A}"/>
              </a:ext>
            </a:extLst>
          </p:cNvPr>
          <p:cNvSpPr txBox="1"/>
          <p:nvPr/>
        </p:nvSpPr>
        <p:spPr>
          <a:xfrm>
            <a:off x="4103019" y="1691640"/>
            <a:ext cx="63223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Matura</a:t>
            </a:r>
            <a:r>
              <a:rPr lang="en-US" dirty="0"/>
              <a:t> 2012 – Gymnasium Leonhard (</a:t>
            </a:r>
            <a:r>
              <a:rPr lang="en-US" dirty="0" err="1"/>
              <a:t>Schwerpunkt</a:t>
            </a:r>
            <a:r>
              <a:rPr lang="en-US" dirty="0"/>
              <a:t> </a:t>
            </a:r>
            <a:r>
              <a:rPr lang="en-US" dirty="0" err="1"/>
              <a:t>Spanisch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US" b="1" dirty="0"/>
              <a:t>Bachelor</a:t>
            </a:r>
            <a:r>
              <a:rPr lang="en-US" dirty="0"/>
              <a:t> </a:t>
            </a:r>
            <a:r>
              <a:rPr lang="en-US" dirty="0" err="1"/>
              <a:t>Nanowissenschaften</a:t>
            </a:r>
            <a:r>
              <a:rPr lang="en-US" dirty="0"/>
              <a:t>  	Uni Basel</a:t>
            </a:r>
          </a:p>
          <a:p>
            <a:r>
              <a:rPr lang="en-US" b="1" dirty="0"/>
              <a:t>Master</a:t>
            </a:r>
            <a:r>
              <a:rPr lang="en-US" dirty="0"/>
              <a:t> </a:t>
            </a:r>
            <a:r>
              <a:rPr lang="en-US" dirty="0" err="1"/>
              <a:t>Nanowissenschaften</a:t>
            </a:r>
            <a:r>
              <a:rPr lang="en-US" dirty="0"/>
              <a:t>  	Uni Basel</a:t>
            </a:r>
          </a:p>
          <a:p>
            <a:r>
              <a:rPr lang="en-US" b="1" dirty="0"/>
              <a:t>PhD</a:t>
            </a:r>
            <a:r>
              <a:rPr lang="en-US" dirty="0"/>
              <a:t> Bioengineering  		ETH Lausanne</a:t>
            </a:r>
          </a:p>
          <a:p>
            <a:endParaRPr lang="en-US" dirty="0"/>
          </a:p>
          <a:p>
            <a:r>
              <a:rPr lang="en-US" dirty="0"/>
              <a:t>Seit 2024 Computational Biologist </a:t>
            </a:r>
            <a:r>
              <a:rPr lang="en-US" dirty="0" err="1"/>
              <a:t>beim</a:t>
            </a:r>
            <a:r>
              <a:rPr lang="en-US" dirty="0"/>
              <a:t> SIB in Genf</a:t>
            </a:r>
          </a:p>
        </p:txBody>
      </p:sp>
    </p:spTree>
    <p:extLst>
      <p:ext uri="{BB962C8B-B14F-4D97-AF65-F5344CB8AC3E}">
        <p14:creationId xmlns:p14="http://schemas.microsoft.com/office/powerpoint/2010/main" val="339999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8CB959-3BF6-465D-604D-F759773F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37" y="3466959"/>
            <a:ext cx="2531331" cy="2548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3FD6F2-DA1B-9483-6B80-1782E25C8594}"/>
              </a:ext>
            </a:extLst>
          </p:cNvPr>
          <p:cNvSpPr txBox="1"/>
          <p:nvPr/>
        </p:nvSpPr>
        <p:spPr>
          <a:xfrm>
            <a:off x="167148" y="227441"/>
            <a:ext cx="4747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From nose to database</a:t>
            </a:r>
          </a:p>
        </p:txBody>
      </p:sp>
      <p:pic>
        <p:nvPicPr>
          <p:cNvPr id="12" name="Picture 11" descr="7,300+ Nasal Swab Testing Stock Photos, Pictures &amp; Royalty-Free Images ...">
            <a:extLst>
              <a:ext uri="{FF2B5EF4-FFF2-40B4-BE49-F238E27FC236}">
                <a16:creationId xmlns:a16="http://schemas.microsoft.com/office/drawing/2014/main" id="{8FD33962-957A-A737-D1BB-D92945F4E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902" y="1418206"/>
            <a:ext cx="2326419" cy="1896191"/>
          </a:xfrm>
          <a:prstGeom prst="rect">
            <a:avLst/>
          </a:prstGeom>
        </p:spPr>
      </p:pic>
      <p:sp>
        <p:nvSpPr>
          <p:cNvPr id="15" name="Bent Arrow 14">
            <a:extLst>
              <a:ext uri="{FF2B5EF4-FFF2-40B4-BE49-F238E27FC236}">
                <a16:creationId xmlns:a16="http://schemas.microsoft.com/office/drawing/2014/main" id="{A83CCD1F-22BF-3BC6-7FDC-E101E5BE3812}"/>
              </a:ext>
            </a:extLst>
          </p:cNvPr>
          <p:cNvSpPr/>
          <p:nvPr/>
        </p:nvSpPr>
        <p:spPr>
          <a:xfrm rot="772225">
            <a:off x="1765284" y="2275041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8" name="Picture 17" descr="Art Test Covid at Jessie Ramirez blog">
            <a:extLst>
              <a:ext uri="{FF2B5EF4-FFF2-40B4-BE49-F238E27FC236}">
                <a16:creationId xmlns:a16="http://schemas.microsoft.com/office/drawing/2014/main" id="{7017BE63-3579-0652-9A9B-1A8C9D956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80" y="1418206"/>
            <a:ext cx="1775381" cy="1775381"/>
          </a:xfrm>
          <a:prstGeom prst="rect">
            <a:avLst/>
          </a:prstGeom>
        </p:spPr>
      </p:pic>
      <p:pic>
        <p:nvPicPr>
          <p:cNvPr id="20" name="Graphic 19" descr="Hospital outline">
            <a:extLst>
              <a:ext uri="{FF2B5EF4-FFF2-40B4-BE49-F238E27FC236}">
                <a16:creationId xmlns:a16="http://schemas.microsoft.com/office/drawing/2014/main" id="{E608FF3B-C5EF-7641-283E-82A322A432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6946" y="3664414"/>
            <a:ext cx="2160772" cy="2160772"/>
          </a:xfrm>
          <a:prstGeom prst="rect">
            <a:avLst/>
          </a:prstGeom>
        </p:spPr>
      </p:pic>
      <p:sp>
        <p:nvSpPr>
          <p:cNvPr id="22" name="Bent Arrow 21">
            <a:extLst>
              <a:ext uri="{FF2B5EF4-FFF2-40B4-BE49-F238E27FC236}">
                <a16:creationId xmlns:a16="http://schemas.microsoft.com/office/drawing/2014/main" id="{DA961367-EBB5-16DA-6A25-1B17763EEE59}"/>
              </a:ext>
            </a:extLst>
          </p:cNvPr>
          <p:cNvSpPr/>
          <p:nvPr/>
        </p:nvSpPr>
        <p:spPr>
          <a:xfrm rot="11326664" flipH="1">
            <a:off x="5763818" y="3566994"/>
            <a:ext cx="963562" cy="943897"/>
          </a:xfrm>
          <a:prstGeom prst="bentArrow">
            <a:avLst>
              <a:gd name="adj1" fmla="val 25000"/>
              <a:gd name="adj2" fmla="val 25000"/>
              <a:gd name="adj3" fmla="val 32292"/>
              <a:gd name="adj4" fmla="val 697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473ECE-D9C2-4626-9C61-0CF091147A78}"/>
              </a:ext>
            </a:extLst>
          </p:cNvPr>
          <p:cNvSpPr txBox="1"/>
          <p:nvPr/>
        </p:nvSpPr>
        <p:spPr>
          <a:xfrm rot="18904999">
            <a:off x="7481799" y="1194214"/>
            <a:ext cx="3391533" cy="3350838"/>
          </a:xfrm>
          <a:prstGeom prst="rect">
            <a:avLst/>
          </a:prstGeom>
          <a:noFill/>
        </p:spPr>
        <p:txBody>
          <a:bodyPr wrap="square">
            <a:prstTxWarp prst="textArchDown">
              <a:avLst>
                <a:gd name="adj" fmla="val 2322986"/>
              </a:avLst>
            </a:prstTxWarp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 err="1">
                <a:solidFill>
                  <a:srgbClr val="FF0000"/>
                </a:solidFill>
              </a:rPr>
              <a:t>tt</a:t>
            </a:r>
            <a:r>
              <a:rPr lang="en-US" sz="2000" dirty="0" err="1">
                <a:solidFill>
                  <a:srgbClr val="FFC000"/>
                </a:solidFill>
              </a:rPr>
              <a:t>g</a:t>
            </a:r>
            <a:r>
              <a:rPr lang="en-US" sz="2000" dirty="0" err="1">
                <a:solidFill>
                  <a:srgbClr val="FF0000"/>
                </a:solidFill>
              </a:rPr>
              <a:t>t</a:t>
            </a:r>
            <a:r>
              <a:rPr lang="en-US" sz="2000" dirty="0" err="1">
                <a:solidFill>
                  <a:srgbClr val="0070C0"/>
                </a:solidFill>
              </a:rPr>
              <a:t>ccc</a:t>
            </a:r>
            <a:r>
              <a:rPr lang="en-US" sz="2000" dirty="0" err="1">
                <a:solidFill>
                  <a:srgbClr val="FF0000"/>
                </a:solidFill>
              </a:rPr>
              <a:t>t</a:t>
            </a:r>
            <a:r>
              <a:rPr lang="en-US" sz="2000" dirty="0" err="1">
                <a:solidFill>
                  <a:srgbClr val="FFC000"/>
                </a:solidFill>
              </a:rPr>
              <a:t>gg</a:t>
            </a:r>
            <a:r>
              <a:rPr lang="en-US" sz="2000" dirty="0" err="1">
                <a:solidFill>
                  <a:srgbClr val="FF0000"/>
                </a:solidFill>
              </a:rPr>
              <a:t>ttt</a:t>
            </a:r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 err="1">
                <a:solidFill>
                  <a:srgbClr val="00B050"/>
                </a:solidFill>
              </a:rPr>
              <a:t>aa</a:t>
            </a:r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 err="1">
                <a:solidFill>
                  <a:srgbClr val="FFC000"/>
                </a:solidFill>
              </a:rPr>
              <a:t>g</a:t>
            </a:r>
            <a:r>
              <a:rPr lang="en-US" sz="2000" dirty="0" err="1">
                <a:solidFill>
                  <a:srgbClr val="00B050"/>
                </a:solidFill>
              </a:rPr>
              <a:t>a</a:t>
            </a:r>
            <a:r>
              <a:rPr lang="en-US" sz="2000" dirty="0" err="1">
                <a:solidFill>
                  <a:srgbClr val="FFC000"/>
                </a:solidFill>
              </a:rPr>
              <a:t>g</a:t>
            </a:r>
            <a:r>
              <a:rPr lang="en-US" sz="2000" dirty="0" err="1">
                <a:solidFill>
                  <a:srgbClr val="00B050"/>
                </a:solidFill>
              </a:rPr>
              <a:t>aaaa</a:t>
            </a:r>
            <a:r>
              <a:rPr lang="en-US" sz="2000" dirty="0" err="1">
                <a:solidFill>
                  <a:srgbClr val="0070C0"/>
                </a:solidFill>
              </a:rPr>
              <a:t>c</a:t>
            </a:r>
            <a:r>
              <a:rPr lang="en-US" sz="2000" dirty="0"/>
              <a:t>...</a:t>
            </a:r>
          </a:p>
        </p:txBody>
      </p:sp>
      <p:pic>
        <p:nvPicPr>
          <p:cNvPr id="34" name="Graphic 33" descr="Warning outline">
            <a:extLst>
              <a:ext uri="{FF2B5EF4-FFF2-40B4-BE49-F238E27FC236}">
                <a16:creationId xmlns:a16="http://schemas.microsoft.com/office/drawing/2014/main" id="{FAE92A5C-9EC5-D254-134E-127187C3A6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6500" y="2066369"/>
            <a:ext cx="599863" cy="59986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32DFF33-BD35-7D0B-62C7-5D46AB0D93B9}"/>
              </a:ext>
            </a:extLst>
          </p:cNvPr>
          <p:cNvSpPr txBox="1"/>
          <p:nvPr/>
        </p:nvSpPr>
        <p:spPr>
          <a:xfrm>
            <a:off x="6817580" y="5455854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sequencing lab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76ECD-FECB-F295-A12E-D21DF6E8D6E0}"/>
              </a:ext>
            </a:extLst>
          </p:cNvPr>
          <p:cNvSpPr txBox="1"/>
          <p:nvPr/>
        </p:nvSpPr>
        <p:spPr>
          <a:xfrm>
            <a:off x="9344884" y="5825186"/>
            <a:ext cx="1935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New variant!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FE2B8846-7649-F67E-A152-BD8D8B0C4B9A}"/>
              </a:ext>
            </a:extLst>
          </p:cNvPr>
          <p:cNvSpPr/>
          <p:nvPr/>
        </p:nvSpPr>
        <p:spPr>
          <a:xfrm rot="18492083">
            <a:off x="8781620" y="5307904"/>
            <a:ext cx="495153" cy="734061"/>
          </a:xfrm>
          <a:prstGeom prst="downArrow">
            <a:avLst>
              <a:gd name="adj1" fmla="val 34995"/>
              <a:gd name="adj2" fmla="val 61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2EF5FE-28D9-47D2-F746-23966AA06769}"/>
              </a:ext>
            </a:extLst>
          </p:cNvPr>
          <p:cNvCxnSpPr/>
          <p:nvPr/>
        </p:nvCxnSpPr>
        <p:spPr>
          <a:xfrm flipH="1">
            <a:off x="8132403" y="2496748"/>
            <a:ext cx="864910" cy="145458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Graphic 4" descr="NIH NLM Logo">
            <a:extLst>
              <a:ext uri="{FF2B5EF4-FFF2-40B4-BE49-F238E27FC236}">
                <a16:creationId xmlns:a16="http://schemas.microsoft.com/office/drawing/2014/main" id="{2D342167-3E6E-9521-E2DD-4B9533AF8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3511" y="1155835"/>
            <a:ext cx="4185120" cy="497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483CA-7D31-9D54-6BB9-F002233C6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751" y="1766338"/>
            <a:ext cx="13208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9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 animBg="1"/>
      <p:bldP spid="32" grpId="1"/>
      <p:bldP spid="35" grpId="0"/>
      <p:bldP spid="2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64E5D5-A028-7C25-AFC4-A8A2FCDC2FD3}"/>
              </a:ext>
            </a:extLst>
          </p:cNvPr>
          <p:cNvSpPr txBox="1"/>
          <p:nvPr/>
        </p:nvSpPr>
        <p:spPr>
          <a:xfrm>
            <a:off x="167148" y="227441"/>
            <a:ext cx="8904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Let’s take a step back – what even is a virus?</a:t>
            </a:r>
          </a:p>
        </p:txBody>
      </p:sp>
      <p:pic>
        <p:nvPicPr>
          <p:cNvPr id="5" name="Picture 4" descr="Premium Vector | Isometric cardboard box open delivery package icon">
            <a:extLst>
              <a:ext uri="{FF2B5EF4-FFF2-40B4-BE49-F238E27FC236}">
                <a16:creationId xmlns:a16="http://schemas.microsoft.com/office/drawing/2014/main" id="{E5C2D937-E16D-882A-7458-F932C606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98" y="2682421"/>
            <a:ext cx="5245100" cy="3670300"/>
          </a:xfrm>
          <a:prstGeom prst="rect">
            <a:avLst/>
          </a:prstGeom>
        </p:spPr>
      </p:pic>
      <p:pic>
        <p:nvPicPr>
          <p:cNvPr id="4" name="Picture 3" descr="Premium Vector | Hand drawn house blueprint illustration">
            <a:extLst>
              <a:ext uri="{FF2B5EF4-FFF2-40B4-BE49-F238E27FC236}">
                <a16:creationId xmlns:a16="http://schemas.microsoft.com/office/drawing/2014/main" id="{C3288451-465C-A4F4-6EE5-9B6FBD9F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72792">
            <a:off x="2172114" y="3989121"/>
            <a:ext cx="1274610" cy="1274610"/>
          </a:xfrm>
          <a:prstGeom prst="rect">
            <a:avLst/>
          </a:prstGeom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0AB8A-1625-1390-D104-375ED2FF77FE}"/>
              </a:ext>
            </a:extLst>
          </p:cNvPr>
          <p:cNvSpPr txBox="1"/>
          <p:nvPr/>
        </p:nvSpPr>
        <p:spPr>
          <a:xfrm>
            <a:off x="167147" y="1199451"/>
            <a:ext cx="722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building instructions </a:t>
            </a:r>
            <a:r>
              <a:rPr lang="en-US" dirty="0"/>
              <a:t>→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genetic material (DNA or RNA)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AB7942"/>
                </a:solidFill>
              </a:rPr>
              <a:t>protective box, address label, etc. </a:t>
            </a:r>
            <a:r>
              <a:rPr lang="en-US" dirty="0"/>
              <a:t>→ protein shell, surface proteins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7465CBD-DDD7-AF12-66AA-FD2B177B1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4"/>
          <a:stretch>
            <a:fillRect/>
          </a:stretch>
        </p:blipFill>
        <p:spPr>
          <a:xfrm>
            <a:off x="6064986" y="2875338"/>
            <a:ext cx="6013431" cy="294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5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78625E-02D8-6F62-7F5A-19F8F95ED29B}"/>
              </a:ext>
            </a:extLst>
          </p:cNvPr>
          <p:cNvSpPr txBox="1"/>
          <p:nvPr/>
        </p:nvSpPr>
        <p:spPr>
          <a:xfrm>
            <a:off x="167148" y="227441"/>
            <a:ext cx="6874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They come in all shapes and sizes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38328-FDD5-0A19-40A9-156434791E46}"/>
              </a:ext>
            </a:extLst>
          </p:cNvPr>
          <p:cNvSpPr/>
          <p:nvPr/>
        </p:nvSpPr>
        <p:spPr>
          <a:xfrm>
            <a:off x="4417720" y="6382022"/>
            <a:ext cx="3356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2"/>
              </a:rPr>
              <a:t>https://viralzone.expasy.org/5216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17731A-5A35-EB17-A515-B1EEAA9C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574" y="1011834"/>
            <a:ext cx="9180852" cy="5370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D84FA5-34F6-F05B-614F-5C83686064AE}"/>
              </a:ext>
            </a:extLst>
          </p:cNvPr>
          <p:cNvSpPr txBox="1"/>
          <p:nvPr/>
        </p:nvSpPr>
        <p:spPr>
          <a:xfrm>
            <a:off x="263967" y="1313048"/>
            <a:ext cx="1457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Eradicated since 1980 thanks to the variola vaccine*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2B7BD267-D8D8-A617-A8F8-71DCDC8BFA13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1029447" y="1922528"/>
            <a:ext cx="439278" cy="51298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C0C1BE4-A02C-456D-AE7B-D95E08B4E048}"/>
              </a:ext>
            </a:extLst>
          </p:cNvPr>
          <p:cNvSpPr txBox="1"/>
          <p:nvPr/>
        </p:nvSpPr>
        <p:spPr>
          <a:xfrm>
            <a:off x="64840" y="6560125"/>
            <a:ext cx="41198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*https://</a:t>
            </a:r>
            <a:r>
              <a:rPr lang="en-US" sz="1000" dirty="0" err="1"/>
              <a:t>iris.who.int</a:t>
            </a:r>
            <a:r>
              <a:rPr lang="en-US" sz="1000" dirty="0"/>
              <a:t>/items/ba4ab312-1c43-4304-8235-969979499717</a:t>
            </a:r>
          </a:p>
        </p:txBody>
      </p:sp>
    </p:spTree>
    <p:extLst>
      <p:ext uri="{BB962C8B-B14F-4D97-AF65-F5344CB8AC3E}">
        <p14:creationId xmlns:p14="http://schemas.microsoft.com/office/powerpoint/2010/main" val="484910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29490-2896-81E2-C861-9DACDC6D69DB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2C09046B-AE75-B37C-AE9C-04D60CC3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32" y="1790700"/>
            <a:ext cx="3884590" cy="3884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4F07A-42FE-16A8-A011-02A885512780}"/>
              </a:ext>
            </a:extLst>
          </p:cNvPr>
          <p:cNvSpPr txBox="1"/>
          <p:nvPr/>
        </p:nvSpPr>
        <p:spPr>
          <a:xfrm>
            <a:off x="8186569" y="227441"/>
            <a:ext cx="3838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Only about ~200 virus types lead to infectious diseases in humans </a:t>
            </a:r>
            <a:r>
              <a:rPr lang="en-US" dirty="0">
                <a:hlinkClick r:id="rId3"/>
              </a:rPr>
              <a:t>https://viralzone.expasy.org/678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56276-DA51-EC11-7C1F-6A5CF7983691}"/>
              </a:ext>
            </a:extLst>
          </p:cNvPr>
          <p:cNvSpPr txBox="1"/>
          <p:nvPr/>
        </p:nvSpPr>
        <p:spPr>
          <a:xfrm>
            <a:off x="2830757" y="5730425"/>
            <a:ext cx="1290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Animal cell</a:t>
            </a:r>
          </a:p>
        </p:txBody>
      </p:sp>
      <p:pic>
        <p:nvPicPr>
          <p:cNvPr id="6" name="Picture 5" descr="Virus Diagram Unlabeled">
            <a:extLst>
              <a:ext uri="{FF2B5EF4-FFF2-40B4-BE49-F238E27FC236}">
                <a16:creationId xmlns:a16="http://schemas.microsoft.com/office/drawing/2014/main" id="{194C9D94-3889-AFF4-B8FD-FABD6BA80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685" y="1666186"/>
            <a:ext cx="4009104" cy="4009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84436-610E-2A37-82B9-7C20EBCC70EB}"/>
              </a:ext>
            </a:extLst>
          </p:cNvPr>
          <p:cNvSpPr txBox="1"/>
          <p:nvPr/>
        </p:nvSpPr>
        <p:spPr>
          <a:xfrm>
            <a:off x="7192871" y="5730425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particle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2DE49-9868-D3B1-C820-E0070A08FA41}"/>
              </a:ext>
            </a:extLst>
          </p:cNvPr>
          <p:cNvSpPr txBox="1"/>
          <p:nvPr/>
        </p:nvSpPr>
        <p:spPr>
          <a:xfrm>
            <a:off x="4846057" y="1886393"/>
            <a:ext cx="1792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genetic material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EAC043-182A-25D6-1933-59FFA883607C}"/>
              </a:ext>
            </a:extLst>
          </p:cNvPr>
          <p:cNvCxnSpPr/>
          <p:nvPr/>
        </p:nvCxnSpPr>
        <p:spPr>
          <a:xfrm flipH="1">
            <a:off x="3476126" y="2360428"/>
            <a:ext cx="1744460" cy="1881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87F296-D279-A7B2-E116-50067411FF1F}"/>
              </a:ext>
            </a:extLst>
          </p:cNvPr>
          <p:cNvCxnSpPr>
            <a:cxnSpLocks/>
          </p:cNvCxnSpPr>
          <p:nvPr/>
        </p:nvCxnSpPr>
        <p:spPr>
          <a:xfrm>
            <a:off x="6096000" y="2351418"/>
            <a:ext cx="1718930" cy="1319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3B3A4FE-24FC-C66B-00D0-B9324CEFAF33}"/>
              </a:ext>
            </a:extLst>
          </p:cNvPr>
          <p:cNvSpPr txBox="1"/>
          <p:nvPr/>
        </p:nvSpPr>
        <p:spPr>
          <a:xfrm>
            <a:off x="4882799" y="4434640"/>
            <a:ext cx="1718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organelles allowing the cell to grow and replicate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F48479-DDA7-8766-0626-5880794525C6}"/>
              </a:ext>
            </a:extLst>
          </p:cNvPr>
          <p:cNvCxnSpPr>
            <a:cxnSpLocks/>
          </p:cNvCxnSpPr>
          <p:nvPr/>
        </p:nvCxnSpPr>
        <p:spPr>
          <a:xfrm flipH="1" flipV="1">
            <a:off x="3584566" y="3268346"/>
            <a:ext cx="1403232" cy="1890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D7D7AB-5A05-CB57-85A4-DA4A92E59B7A}"/>
              </a:ext>
            </a:extLst>
          </p:cNvPr>
          <p:cNvCxnSpPr>
            <a:cxnSpLocks/>
          </p:cNvCxnSpPr>
          <p:nvPr/>
        </p:nvCxnSpPr>
        <p:spPr>
          <a:xfrm flipV="1">
            <a:off x="6443330" y="4242391"/>
            <a:ext cx="1025826" cy="80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Multiply 21">
            <a:extLst>
              <a:ext uri="{FF2B5EF4-FFF2-40B4-BE49-F238E27FC236}">
                <a16:creationId xmlns:a16="http://schemas.microsoft.com/office/drawing/2014/main" id="{27F39EF2-C876-A1B7-88D3-60612A14ADEF}"/>
              </a:ext>
            </a:extLst>
          </p:cNvPr>
          <p:cNvSpPr/>
          <p:nvPr/>
        </p:nvSpPr>
        <p:spPr>
          <a:xfrm>
            <a:off x="6579392" y="4266986"/>
            <a:ext cx="751616" cy="751616"/>
          </a:xfrm>
          <a:prstGeom prst="mathMultiply">
            <a:avLst>
              <a:gd name="adj1" fmla="val 1142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BFE4-8E36-CEB3-18C2-F497BF6A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ABCAB7-0EB8-7835-7F54-9DB53D578D51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9F6FC91F-2908-2893-3816-E88470814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32" y="1790700"/>
            <a:ext cx="3884590" cy="3884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3E2E7D-DA2A-8471-212E-56EE51445E8F}"/>
              </a:ext>
            </a:extLst>
          </p:cNvPr>
          <p:cNvSpPr txBox="1"/>
          <p:nvPr/>
        </p:nvSpPr>
        <p:spPr>
          <a:xfrm>
            <a:off x="8186569" y="227441"/>
            <a:ext cx="3838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Only about ~200 virus types lead to infectious diseases in humans </a:t>
            </a:r>
            <a:r>
              <a:rPr lang="en-US" dirty="0">
                <a:hlinkClick r:id="rId3"/>
              </a:rPr>
              <a:t>https://viralzone.expasy.org/678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35B03-20AB-DD93-C01C-5B0693FC70BE}"/>
              </a:ext>
            </a:extLst>
          </p:cNvPr>
          <p:cNvSpPr txBox="1"/>
          <p:nvPr/>
        </p:nvSpPr>
        <p:spPr>
          <a:xfrm>
            <a:off x="2807518" y="5730425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Animal cell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9614A-5E62-4C76-B11D-E683854AE391}"/>
              </a:ext>
            </a:extLst>
          </p:cNvPr>
          <p:cNvSpPr txBox="1"/>
          <p:nvPr/>
        </p:nvSpPr>
        <p:spPr>
          <a:xfrm>
            <a:off x="7169629" y="5730425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particle</a:t>
            </a:r>
          </a:p>
        </p:txBody>
      </p:sp>
      <p:pic>
        <p:nvPicPr>
          <p:cNvPr id="8" name="Picture 7" descr="Virus Diagram Unlabeled">
            <a:extLst>
              <a:ext uri="{FF2B5EF4-FFF2-40B4-BE49-F238E27FC236}">
                <a16:creationId xmlns:a16="http://schemas.microsoft.com/office/drawing/2014/main" id="{3E07DA4E-759E-46C3-596B-B99755417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41" y="3817074"/>
            <a:ext cx="67645" cy="67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B4EF1A-BEB3-D49B-C10F-D0AD18EFA78F}"/>
              </a:ext>
            </a:extLst>
          </p:cNvPr>
          <p:cNvSpPr txBox="1"/>
          <p:nvPr/>
        </p:nvSpPr>
        <p:spPr>
          <a:xfrm>
            <a:off x="8377788" y="3700053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~200-300x smaller</a:t>
            </a:r>
          </a:p>
        </p:txBody>
      </p:sp>
    </p:spTree>
    <p:extLst>
      <p:ext uri="{BB962C8B-B14F-4D97-AF65-F5344CB8AC3E}">
        <p14:creationId xmlns:p14="http://schemas.microsoft.com/office/powerpoint/2010/main" val="1124703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DBC5-4607-E226-101B-11DA815B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E69865-F944-C8CE-2FD4-CD9CF72BA9F9}"/>
              </a:ext>
            </a:extLst>
          </p:cNvPr>
          <p:cNvSpPr txBox="1"/>
          <p:nvPr/>
        </p:nvSpPr>
        <p:spPr>
          <a:xfrm>
            <a:off x="167148" y="227441"/>
            <a:ext cx="6471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What makes a virus dangerous?</a:t>
            </a:r>
          </a:p>
        </p:txBody>
      </p:sp>
      <p:pic>
        <p:nvPicPr>
          <p:cNvPr id="3" name="Picture 2" descr="Eukaryotic Animal Cell Structure A Visual Guide Hubpages">
            <a:extLst>
              <a:ext uri="{FF2B5EF4-FFF2-40B4-BE49-F238E27FC236}">
                <a16:creationId xmlns:a16="http://schemas.microsoft.com/office/drawing/2014/main" id="{8C2FD915-D536-B0DD-9337-E0E09ABB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8" y="1790700"/>
            <a:ext cx="3884590" cy="3884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D20B0-497C-BC35-842F-41BD049E444C}"/>
              </a:ext>
            </a:extLst>
          </p:cNvPr>
          <p:cNvSpPr txBox="1"/>
          <p:nvPr/>
        </p:nvSpPr>
        <p:spPr>
          <a:xfrm>
            <a:off x="923348" y="5730425"/>
            <a:ext cx="345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virus enters host cell an hijacks it</a:t>
            </a:r>
          </a:p>
        </p:txBody>
      </p:sp>
      <p:pic>
        <p:nvPicPr>
          <p:cNvPr id="8" name="Picture 7" descr="Virus Diagram Unlabeled">
            <a:extLst>
              <a:ext uri="{FF2B5EF4-FFF2-40B4-BE49-F238E27FC236}">
                <a16:creationId xmlns:a16="http://schemas.microsoft.com/office/drawing/2014/main" id="{5D123305-7B2D-3B6D-DF7E-B640AE6B6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026" y="2683744"/>
            <a:ext cx="159504" cy="159504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D00F746D-3114-9B6F-858D-0D45D0DB6222}"/>
              </a:ext>
            </a:extLst>
          </p:cNvPr>
          <p:cNvSpPr/>
          <p:nvPr/>
        </p:nvSpPr>
        <p:spPr>
          <a:xfrm rot="5400000">
            <a:off x="4034846" y="2350112"/>
            <a:ext cx="429594" cy="667265"/>
          </a:xfrm>
          <a:prstGeom prst="downArrow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A32442-106E-FCF0-4216-20A94BE305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b="3628"/>
          <a:stretch>
            <a:fillRect/>
          </a:stretch>
        </p:blipFill>
        <p:spPr>
          <a:xfrm>
            <a:off x="6638471" y="627094"/>
            <a:ext cx="4013053" cy="6230906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35FA8BEB-2F08-89C5-F8D1-347C57022209}"/>
              </a:ext>
            </a:extLst>
          </p:cNvPr>
          <p:cNvSpPr/>
          <p:nvPr/>
        </p:nvSpPr>
        <p:spPr>
          <a:xfrm rot="14400000">
            <a:off x="7102959" y="1272751"/>
            <a:ext cx="429594" cy="1353711"/>
          </a:xfrm>
          <a:prstGeom prst="downArrow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22669B-D73E-B899-2460-B6D09470EB9F}"/>
              </a:ext>
            </a:extLst>
          </p:cNvPr>
          <p:cNvSpPr txBox="1"/>
          <p:nvPr/>
        </p:nvSpPr>
        <p:spPr>
          <a:xfrm>
            <a:off x="4682566" y="2289797"/>
            <a:ext cx="2038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one of the most important steps</a:t>
            </a:r>
          </a:p>
        </p:txBody>
      </p:sp>
    </p:spTree>
    <p:extLst>
      <p:ext uri="{BB962C8B-B14F-4D97-AF65-F5344CB8AC3E}">
        <p14:creationId xmlns:p14="http://schemas.microsoft.com/office/powerpoint/2010/main" val="105170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0CCC29-A0E2-C2DF-13B5-074C42CA656D}"/>
              </a:ext>
            </a:extLst>
          </p:cNvPr>
          <p:cNvSpPr txBox="1"/>
          <p:nvPr/>
        </p:nvSpPr>
        <p:spPr>
          <a:xfrm>
            <a:off x="167148" y="227441"/>
            <a:ext cx="7071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Just a few genes to make it all 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A54560-8E86-EC7C-C931-BD83E4B2D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72" y="878030"/>
            <a:ext cx="7498642" cy="5752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AC9BB4-91F6-53A3-D9FA-901CEAEF8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418" y="873772"/>
            <a:ext cx="4338530" cy="62362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4DD14D-598A-3B1B-8C86-A9E9050F32FE}"/>
              </a:ext>
            </a:extLst>
          </p:cNvPr>
          <p:cNvSpPr txBox="1"/>
          <p:nvPr/>
        </p:nvSpPr>
        <p:spPr>
          <a:xfrm>
            <a:off x="9823376" y="550606"/>
            <a:ext cx="1680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~29’000 bases long</a:t>
            </a:r>
          </a:p>
        </p:txBody>
      </p:sp>
    </p:spTree>
    <p:extLst>
      <p:ext uri="{BB962C8B-B14F-4D97-AF65-F5344CB8AC3E}">
        <p14:creationId xmlns:p14="http://schemas.microsoft.com/office/powerpoint/2010/main" val="2418444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4E98-FCE6-29A0-B91D-618799E3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EDFBF-58ED-7DAC-70CF-720FF0958581}"/>
              </a:ext>
            </a:extLst>
          </p:cNvPr>
          <p:cNvSpPr txBox="1"/>
          <p:nvPr/>
        </p:nvSpPr>
        <p:spPr>
          <a:xfrm>
            <a:off x="167148" y="227441"/>
            <a:ext cx="8235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Mistakes can happen during replication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2BE6D-141D-F75A-806E-3F2DA0DD0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77" y="966012"/>
            <a:ext cx="3555093" cy="5664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EA82F0-EF50-EF6D-8BCE-39509DAF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542" y="2339680"/>
            <a:ext cx="5711365" cy="217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3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31F7-2BD5-13E6-B985-B0821468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DF6050-77CA-A6BB-5C82-0B06E562E5C5}"/>
              </a:ext>
            </a:extLst>
          </p:cNvPr>
          <p:cNvSpPr txBox="1"/>
          <p:nvPr/>
        </p:nvSpPr>
        <p:spPr>
          <a:xfrm>
            <a:off x="167148" y="227441"/>
            <a:ext cx="10908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Mutations change the behavior of the encoded protein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57FF32-7668-E5F1-4584-4D96597B9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799" y="3057390"/>
            <a:ext cx="4117848" cy="15707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BA25F1-76D9-72CD-03C4-3CE7F0167D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4729"/>
          <a:stretch/>
        </p:blipFill>
        <p:spPr>
          <a:xfrm>
            <a:off x="7451711" y="1383803"/>
            <a:ext cx="4460128" cy="4603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12640E-1969-1B8F-E963-381BAF1D7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485" b="13949"/>
          <a:stretch>
            <a:fillRect/>
          </a:stretch>
        </p:blipFill>
        <p:spPr>
          <a:xfrm>
            <a:off x="493579" y="1547882"/>
            <a:ext cx="5352288" cy="1408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022145-8ABC-2EFA-B228-8175AB299DB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248" b="18759"/>
          <a:stretch>
            <a:fillRect/>
          </a:stretch>
        </p:blipFill>
        <p:spPr>
          <a:xfrm>
            <a:off x="493579" y="4729503"/>
            <a:ext cx="5352288" cy="149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02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AADC-2B76-CC77-8556-541A32A4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52F300-623A-838A-32B0-05B1B54C3535}"/>
              </a:ext>
            </a:extLst>
          </p:cNvPr>
          <p:cNvSpPr txBox="1"/>
          <p:nvPr/>
        </p:nvSpPr>
        <p:spPr>
          <a:xfrm>
            <a:off x="167148" y="227441"/>
            <a:ext cx="4737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One protein stands out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EC601-CF93-6046-4B41-1A824B655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679" y="878030"/>
            <a:ext cx="7498642" cy="5752529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06B50ADA-9751-7DAC-522F-581138C74991}"/>
              </a:ext>
            </a:extLst>
          </p:cNvPr>
          <p:cNvSpPr/>
          <p:nvPr/>
        </p:nvSpPr>
        <p:spPr>
          <a:xfrm>
            <a:off x="2171207" y="873772"/>
            <a:ext cx="7744968" cy="5892788"/>
          </a:xfrm>
          <a:custGeom>
            <a:avLst/>
            <a:gdLst>
              <a:gd name="csX0" fmla="*/ 0 w 7711916"/>
              <a:gd name="csY0" fmla="*/ 0 h 5892788"/>
              <a:gd name="csX1" fmla="*/ 7711916 w 7711916"/>
              <a:gd name="csY1" fmla="*/ 0 h 5892788"/>
              <a:gd name="csX2" fmla="*/ 7711916 w 7711916"/>
              <a:gd name="csY2" fmla="*/ 5892788 h 5892788"/>
              <a:gd name="csX3" fmla="*/ 0 w 7711916"/>
              <a:gd name="csY3" fmla="*/ 5892788 h 5892788"/>
              <a:gd name="csX4" fmla="*/ 0 w 7711916"/>
              <a:gd name="csY4" fmla="*/ 2651240 h 5892788"/>
              <a:gd name="csX5" fmla="*/ 1320030 w 7711916"/>
              <a:gd name="csY5" fmla="*/ 3460484 h 5892788"/>
              <a:gd name="csX6" fmla="*/ 2640060 w 7711916"/>
              <a:gd name="csY6" fmla="*/ 2651240 h 5892788"/>
              <a:gd name="csX7" fmla="*/ 1320030 w 7711916"/>
              <a:gd name="csY7" fmla="*/ 1841996 h 5892788"/>
              <a:gd name="csX8" fmla="*/ 0 w 7711916"/>
              <a:gd name="csY8" fmla="*/ 2651240 h 5892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711916" h="5892788">
                <a:moveTo>
                  <a:pt x="0" y="0"/>
                </a:moveTo>
                <a:lnTo>
                  <a:pt x="7711916" y="0"/>
                </a:lnTo>
                <a:lnTo>
                  <a:pt x="7711916" y="5892788"/>
                </a:lnTo>
                <a:lnTo>
                  <a:pt x="0" y="5892788"/>
                </a:lnTo>
                <a:lnTo>
                  <a:pt x="0" y="2651240"/>
                </a:lnTo>
                <a:cubicBezTo>
                  <a:pt x="0" y="3098173"/>
                  <a:pt x="590998" y="3460484"/>
                  <a:pt x="1320030" y="3460484"/>
                </a:cubicBezTo>
                <a:cubicBezTo>
                  <a:pt x="2049062" y="3460484"/>
                  <a:pt x="2640060" y="3098173"/>
                  <a:pt x="2640060" y="2651240"/>
                </a:cubicBezTo>
                <a:cubicBezTo>
                  <a:pt x="2640060" y="2204307"/>
                  <a:pt x="2049062" y="1841996"/>
                  <a:pt x="1320030" y="1841996"/>
                </a:cubicBezTo>
                <a:cubicBezTo>
                  <a:pt x="590998" y="1841996"/>
                  <a:pt x="0" y="2204307"/>
                  <a:pt x="0" y="2651240"/>
                </a:cubicBezTo>
                <a:close/>
              </a:path>
            </a:pathLst>
          </a:cu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ike protein from SARS-CoV, with one receptor binding domain (RBD) in the up position, and a closed conformation of the SARS-CoV-2 spike. The S1 fragment is shown in magenta and the S2 fragment in red, with glycosylation in lighter shades.">
            <a:extLst>
              <a:ext uri="{FF2B5EF4-FFF2-40B4-BE49-F238E27FC236}">
                <a16:creationId xmlns:a16="http://schemas.microsoft.com/office/drawing/2014/main" id="{9AAA5A53-2905-2FDC-B529-7E86570BF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03" t="6089"/>
          <a:stretch>
            <a:fillRect/>
          </a:stretch>
        </p:blipFill>
        <p:spPr>
          <a:xfrm>
            <a:off x="521208" y="1911096"/>
            <a:ext cx="2534452" cy="4830318"/>
          </a:xfrm>
          <a:prstGeom prst="rect">
            <a:avLst/>
          </a:prstGeom>
        </p:spPr>
      </p:pic>
      <p:pic>
        <p:nvPicPr>
          <p:cNvPr id="3" name="Picture 2" descr="Illustration of a complex of the spike protein (red and magenta) bound to its receptor ACE2 (blue). ACE2 is part of a complex with the amino acid transporter B0AT1 (green). The cell membrane is shown schematically in light blue at the bottom.">
            <a:extLst>
              <a:ext uri="{FF2B5EF4-FFF2-40B4-BE49-F238E27FC236}">
                <a16:creationId xmlns:a16="http://schemas.microsoft.com/office/drawing/2014/main" id="{ABADD86C-D5EC-3EBC-2512-338887B7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77" y="1597914"/>
            <a:ext cx="3767614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221FC4-BA5A-C9DC-9DC7-C26BF4C72C5D}"/>
              </a:ext>
            </a:extLst>
          </p:cNvPr>
          <p:cNvSpPr txBox="1"/>
          <p:nvPr/>
        </p:nvSpPr>
        <p:spPr>
          <a:xfrm>
            <a:off x="167148" y="227441"/>
            <a:ext cx="7919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spike protein is the key into the cell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19E98-65AA-A285-FF01-53B545643541}"/>
              </a:ext>
            </a:extLst>
          </p:cNvPr>
          <p:cNvSpPr txBox="1"/>
          <p:nvPr/>
        </p:nvSpPr>
        <p:spPr>
          <a:xfrm>
            <a:off x="773829" y="1413248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40F3E-D1F9-8E4F-0BA7-ABE0F4910A08}"/>
              </a:ext>
            </a:extLst>
          </p:cNvPr>
          <p:cNvSpPr txBox="1"/>
          <p:nvPr/>
        </p:nvSpPr>
        <p:spPr>
          <a:xfrm>
            <a:off x="8579757" y="2549390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7A5FE-8B86-E1BE-F0FA-2F6D29AEB1B7}"/>
              </a:ext>
            </a:extLst>
          </p:cNvPr>
          <p:cNvSpPr txBox="1"/>
          <p:nvPr/>
        </p:nvSpPr>
        <p:spPr>
          <a:xfrm>
            <a:off x="3715576" y="3341870"/>
            <a:ext cx="2230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human </a:t>
            </a:r>
            <a:r>
              <a:rPr lang="en-US" b="1" dirty="0"/>
              <a:t>ACE2</a:t>
            </a:r>
            <a:r>
              <a:rPr lang="en-US" dirty="0"/>
              <a:t> protein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AA159-9045-DB54-3F69-FB33AE753564}"/>
              </a:ext>
            </a:extLst>
          </p:cNvPr>
          <p:cNvSpPr txBox="1"/>
          <p:nvPr/>
        </p:nvSpPr>
        <p:spPr>
          <a:xfrm>
            <a:off x="9089136" y="4781050"/>
            <a:ext cx="28437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ACE2</a:t>
            </a:r>
            <a:r>
              <a:rPr lang="en-US" dirty="0"/>
              <a:t> is a cell surface protein involved in the control of blood pressure.</a:t>
            </a:r>
          </a:p>
          <a:p>
            <a:endParaRPr lang="en-US" dirty="0"/>
          </a:p>
          <a:p>
            <a:r>
              <a:rPr lang="en-US" dirty="0"/>
              <a:t>It is found on lung, heart, kidney, and intestinal 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7F17F-08EE-C7BB-1445-AA5082A68600}"/>
              </a:ext>
            </a:extLst>
          </p:cNvPr>
          <p:cNvSpPr txBox="1"/>
          <p:nvPr/>
        </p:nvSpPr>
        <p:spPr>
          <a:xfrm>
            <a:off x="198263" y="5658213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virus shell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0F814-4761-2E67-9193-01D5ECAA0EC4}"/>
              </a:ext>
            </a:extLst>
          </p:cNvPr>
          <p:cNvSpPr txBox="1"/>
          <p:nvPr/>
        </p:nvSpPr>
        <p:spPr>
          <a:xfrm>
            <a:off x="7330130" y="6021386"/>
            <a:ext cx="1681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cell membrane</a:t>
            </a:r>
          </a:p>
        </p:txBody>
      </p:sp>
    </p:spTree>
    <p:extLst>
      <p:ext uri="{BB962C8B-B14F-4D97-AF65-F5344CB8AC3E}">
        <p14:creationId xmlns:p14="http://schemas.microsoft.com/office/powerpoint/2010/main" val="663698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8E7D-87C6-8029-C758-4ECF9472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657D46-58F6-4F69-B0DB-441A76AB6B1F}"/>
              </a:ext>
            </a:extLst>
          </p:cNvPr>
          <p:cNvSpPr txBox="1"/>
          <p:nvPr/>
        </p:nvSpPr>
        <p:spPr>
          <a:xfrm>
            <a:off x="167148" y="227441"/>
            <a:ext cx="11088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Spike mutations change how well the virus infects cells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B031F2-1A0E-F20E-62D3-49E6AF3B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8899"/>
          <a:stretch>
            <a:fillRect/>
          </a:stretch>
        </p:blipFill>
        <p:spPr>
          <a:xfrm>
            <a:off x="167148" y="873771"/>
            <a:ext cx="7067781" cy="65984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36F313-AE33-05F9-2B61-6776E2CF7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7338" b="3777"/>
          <a:stretch>
            <a:fillRect/>
          </a:stretch>
        </p:blipFill>
        <p:spPr>
          <a:xfrm>
            <a:off x="167147" y="1602399"/>
            <a:ext cx="7067783" cy="171687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82B17BE-E072-2E99-41B5-B9BE5C955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296" b="35015"/>
          <a:stretch>
            <a:fillRect/>
          </a:stretch>
        </p:blipFill>
        <p:spPr>
          <a:xfrm>
            <a:off x="167147" y="3388059"/>
            <a:ext cx="7067782" cy="3191257"/>
          </a:xfrm>
          <a:prstGeom prst="rect">
            <a:avLst/>
          </a:prstGeom>
        </p:spPr>
      </p:pic>
      <p:pic>
        <p:nvPicPr>
          <p:cNvPr id="10" name="Picture 9" descr="Spike protein from SARS-CoV, with one receptor binding domain (RBD) in the up position, and a closed conformation of the SARS-CoV-2 spike. The S1 fragment is shown in magenta and the S2 fragment in red, with glycosylation in lighter shades.">
            <a:extLst>
              <a:ext uri="{FF2B5EF4-FFF2-40B4-BE49-F238E27FC236}">
                <a16:creationId xmlns:a16="http://schemas.microsoft.com/office/drawing/2014/main" id="{2621340A-6F31-AD3D-FD78-3C396B04D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03" t="6089"/>
          <a:stretch>
            <a:fillRect/>
          </a:stretch>
        </p:blipFill>
        <p:spPr>
          <a:xfrm>
            <a:off x="8439912" y="1800241"/>
            <a:ext cx="2534452" cy="48303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6D0FA0-5334-C7A7-E30C-302C094D4D95}"/>
              </a:ext>
            </a:extLst>
          </p:cNvPr>
          <p:cNvSpPr txBox="1"/>
          <p:nvPr/>
        </p:nvSpPr>
        <p:spPr>
          <a:xfrm>
            <a:off x="8692533" y="1302393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SARS-CoV-2 </a:t>
            </a:r>
            <a:r>
              <a:rPr lang="en-US" b="1" dirty="0"/>
              <a:t>Spike</a:t>
            </a:r>
          </a:p>
        </p:txBody>
      </p:sp>
    </p:spTree>
    <p:extLst>
      <p:ext uri="{BB962C8B-B14F-4D97-AF65-F5344CB8AC3E}">
        <p14:creationId xmlns:p14="http://schemas.microsoft.com/office/powerpoint/2010/main" val="123638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7194E-E628-0228-7C11-E2AC0792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3227C5-D189-0B21-53C4-D63255EB3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28" y="275058"/>
            <a:ext cx="10635343" cy="1650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5DD47B-7441-958D-691A-E07CC51B6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166" y="2533934"/>
            <a:ext cx="9425666" cy="12595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66FE6E-3A78-36D0-86F2-3ED486CC0EAD}"/>
              </a:ext>
            </a:extLst>
          </p:cNvPr>
          <p:cNvSpPr txBox="1"/>
          <p:nvPr/>
        </p:nvSpPr>
        <p:spPr>
          <a:xfrm>
            <a:off x="1383166" y="3885259"/>
            <a:ext cx="545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*variant comparison using </a:t>
            </a:r>
            <a:r>
              <a:rPr lang="en-US" sz="1200" dirty="0" err="1"/>
              <a:t>nextclade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D22E1A-3504-27D9-EB03-A98A1A8D6672}"/>
              </a:ext>
            </a:extLst>
          </p:cNvPr>
          <p:cNvSpPr txBox="1"/>
          <p:nvPr/>
        </p:nvSpPr>
        <p:spPr>
          <a:xfrm>
            <a:off x="1049264" y="4808047"/>
            <a:ext cx="3223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test for Covid-19</a:t>
            </a:r>
          </a:p>
          <a:p>
            <a:r>
              <a:rPr lang="en-US" b="1" dirty="0"/>
              <a:t>BUT</a:t>
            </a:r>
            <a:r>
              <a:rPr lang="en-US" dirty="0"/>
              <a:t> </a:t>
            </a:r>
          </a:p>
          <a:p>
            <a:r>
              <a:rPr lang="en-US" dirty="0"/>
              <a:t>Negative for SARS-CoV-2 Spike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550F073-7E33-42B3-FFD7-91E4707AD3B3}"/>
              </a:ext>
            </a:extLst>
          </p:cNvPr>
          <p:cNvSpPr/>
          <p:nvPr/>
        </p:nvSpPr>
        <p:spPr>
          <a:xfrm>
            <a:off x="5565424" y="4955310"/>
            <a:ext cx="801511" cy="62879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8D3138-D863-7A9D-071B-A34CA2118625}"/>
              </a:ext>
            </a:extLst>
          </p:cNvPr>
          <p:cNvSpPr txBox="1"/>
          <p:nvPr/>
        </p:nvSpPr>
        <p:spPr>
          <a:xfrm>
            <a:off x="7536142" y="4946545"/>
            <a:ext cx="322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Further investigation and identification of novel variant!</a:t>
            </a:r>
          </a:p>
        </p:txBody>
      </p:sp>
    </p:spTree>
    <p:extLst>
      <p:ext uri="{BB962C8B-B14F-4D97-AF65-F5344CB8AC3E}">
        <p14:creationId xmlns:p14="http://schemas.microsoft.com/office/powerpoint/2010/main" val="303451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6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C1976-F520-6023-CE33-3B4D63621AF7}"/>
              </a:ext>
            </a:extLst>
          </p:cNvPr>
          <p:cNvSpPr txBox="1"/>
          <p:nvPr/>
        </p:nvSpPr>
        <p:spPr>
          <a:xfrm>
            <a:off x="167148" y="227441"/>
            <a:ext cx="110571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Quickly responding and adapting to ongoing epidemics</a:t>
            </a:r>
          </a:p>
          <a:p>
            <a:r>
              <a:rPr lang="en-US" sz="3600" dirty="0"/>
              <a:t>is only possible with open knowledge and data</a:t>
            </a:r>
          </a:p>
        </p:txBody>
      </p:sp>
      <p:pic>
        <p:nvPicPr>
          <p:cNvPr id="3" name="Graphic 2" descr="NIH NLM Logo">
            <a:extLst>
              <a:ext uri="{FF2B5EF4-FFF2-40B4-BE49-F238E27FC236}">
                <a16:creationId xmlns:a16="http://schemas.microsoft.com/office/drawing/2014/main" id="{6B3D0F52-3053-DBC8-704B-55357D18F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688" y="1874225"/>
            <a:ext cx="6321646" cy="7519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88CDC-FF59-A079-4774-90C2188E7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823" y="2886728"/>
            <a:ext cx="1756265" cy="844358"/>
          </a:xfrm>
          <a:prstGeom prst="rect">
            <a:avLst/>
          </a:prstGeom>
        </p:spPr>
      </p:pic>
      <p:pic>
        <p:nvPicPr>
          <p:cNvPr id="5" name="Graphic 4" descr="ENA Browser">
            <a:extLst>
              <a:ext uri="{FF2B5EF4-FFF2-40B4-BE49-F238E27FC236}">
                <a16:creationId xmlns:a16="http://schemas.microsoft.com/office/drawing/2014/main" id="{D94CF9C0-037D-4B67-1517-49876F2B2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6854" y="3731086"/>
            <a:ext cx="4593166" cy="1312333"/>
          </a:xfrm>
          <a:prstGeom prst="rect">
            <a:avLst/>
          </a:prstGeom>
        </p:spPr>
      </p:pic>
      <p:pic>
        <p:nvPicPr>
          <p:cNvPr id="6" name="Graphic 5" descr="icon">
            <a:extLst>
              <a:ext uri="{FF2B5EF4-FFF2-40B4-BE49-F238E27FC236}">
                <a16:creationId xmlns:a16="http://schemas.microsoft.com/office/drawing/2014/main" id="{DC82F305-B136-D68E-3B80-947CA60C6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5585695"/>
            <a:ext cx="868080" cy="8425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844E46-10F5-16F6-DA09-C7EC56FFCB10}"/>
              </a:ext>
            </a:extLst>
          </p:cNvPr>
          <p:cNvSpPr txBox="1"/>
          <p:nvPr/>
        </p:nvSpPr>
        <p:spPr>
          <a:xfrm>
            <a:off x="6964080" y="5786867"/>
            <a:ext cx="2785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227DAE"/>
                </a:solidFill>
              </a:rPr>
              <a:t>Pathoplexus</a:t>
            </a:r>
            <a:endParaRPr lang="en-US" sz="3600" b="1" dirty="0">
              <a:solidFill>
                <a:srgbClr val="227D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89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18232</TotalTime>
  <Words>395</Words>
  <Application>Microsoft Macintosh PowerPoint</Application>
  <PresentationFormat>Widescreen</PresentationFormat>
  <Paragraphs>67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Julius Winter</dc:creator>
  <cp:lastModifiedBy>Julius Winter</cp:lastModifiedBy>
  <cp:revision>17</cp:revision>
  <dcterms:created xsi:type="dcterms:W3CDTF">2026-09-18T09:20:08Z</dcterms:created>
  <dcterms:modified xsi:type="dcterms:W3CDTF">2026-10-05T10:04:19Z</dcterms:modified>
</cp:coreProperties>
</file>