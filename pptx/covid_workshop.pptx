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68" r:id="rId3"/>
    <p:sldId id="257" r:id="rId4"/>
    <p:sldId id="259" r:id="rId5"/>
    <p:sldId id="261" r:id="rId6"/>
    <p:sldId id="260" r:id="rId7"/>
    <p:sldId id="262" r:id="rId8"/>
    <p:sldId id="264" r:id="rId9"/>
    <p:sldId id="270" r:id="rId10"/>
    <p:sldId id="271" r:id="rId11"/>
    <p:sldId id="272" r:id="rId12"/>
    <p:sldId id="263" r:id="rId13"/>
    <p:sldId id="265" r:id="rId14"/>
    <p:sldId id="267" r:id="rId15"/>
    <p:sldId id="266" r:id="rId16"/>
    <p:sldId id="273" r:id="rId17"/>
    <p:sldId id="274" r:id="rId18"/>
    <p:sldId id="275"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27DAE"/>
    <a:srgbClr val="20558A"/>
    <a:srgbClr val="FFFFFF"/>
    <a:srgbClr val="156082"/>
    <a:srgbClr val="AB79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76"/>
    <p:restoredTop sz="91061"/>
  </p:normalViewPr>
  <p:slideViewPr>
    <p:cSldViewPr snapToGrid="0">
      <p:cViewPr varScale="1">
        <p:scale>
          <a:sx n="113" d="100"/>
          <a:sy n="113" d="100"/>
        </p:scale>
        <p:origin x="536"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F4AF06-F820-0E48-9E4F-6E1CA0124996}" type="datetimeFigureOut">
              <a:rPr lang="en-US" smtClean="0"/>
              <a:t>10/15/26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1A7965-DE76-B84E-8824-69CD3E716B71}" type="slidenum">
              <a:rPr lang="en-US" smtClean="0"/>
              <a:t>‹#›</a:t>
            </a:fld>
            <a:endParaRPr lang="en-US"/>
          </a:p>
        </p:txBody>
      </p:sp>
    </p:spTree>
    <p:extLst>
      <p:ext uri="{BB962C8B-B14F-4D97-AF65-F5344CB8AC3E}">
        <p14:creationId xmlns:p14="http://schemas.microsoft.com/office/powerpoint/2010/main" val="4321527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life example of first Omicron case in Europe.</a:t>
            </a:r>
          </a:p>
          <a:p>
            <a:r>
              <a:rPr lang="en-US" dirty="0"/>
              <a:t>See: https://</a:t>
            </a:r>
            <a:r>
              <a:rPr lang="en-US" dirty="0" err="1"/>
              <a:t>journals.asm.org</a:t>
            </a:r>
            <a:r>
              <a:rPr lang="en-US" dirty="0"/>
              <a:t>/</a:t>
            </a:r>
            <a:r>
              <a:rPr lang="en-US" dirty="0" err="1"/>
              <a:t>doi</a:t>
            </a:r>
            <a:r>
              <a:rPr lang="en-US" dirty="0"/>
              <a:t>/full/10.1128/mra.01161-21</a:t>
            </a:r>
          </a:p>
        </p:txBody>
      </p:sp>
      <p:sp>
        <p:nvSpPr>
          <p:cNvPr id="4" name="Slide Number Placeholder 3"/>
          <p:cNvSpPr>
            <a:spLocks noGrp="1"/>
          </p:cNvSpPr>
          <p:nvPr>
            <p:ph type="sldNum" sz="quarter" idx="5"/>
          </p:nvPr>
        </p:nvSpPr>
        <p:spPr/>
        <p:txBody>
          <a:bodyPr/>
          <a:lstStyle/>
          <a:p>
            <a:fld id="{F91A7965-DE76-B84E-8824-69CD3E716B71}" type="slidenum">
              <a:rPr lang="en-US" smtClean="0"/>
              <a:t>3</a:t>
            </a:fld>
            <a:endParaRPr lang="en-US"/>
          </a:p>
        </p:txBody>
      </p:sp>
    </p:spTree>
    <p:extLst>
      <p:ext uri="{BB962C8B-B14F-4D97-AF65-F5344CB8AC3E}">
        <p14:creationId xmlns:p14="http://schemas.microsoft.com/office/powerpoint/2010/main" val="33490015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Virus particle and animal/plant cell share the fact they contain genetic material. The virus does not however contain any machinery that is required to replicate this genetic material. To achieve this the virus has to infect and hijack an animal or plant cell and reprogram the cell to make only viruses</a:t>
            </a:r>
          </a:p>
        </p:txBody>
      </p:sp>
      <p:sp>
        <p:nvSpPr>
          <p:cNvPr id="4" name="Slide Number Placeholder 3"/>
          <p:cNvSpPr>
            <a:spLocks noGrp="1"/>
          </p:cNvSpPr>
          <p:nvPr>
            <p:ph type="sldNum" sz="quarter" idx="5"/>
          </p:nvPr>
        </p:nvSpPr>
        <p:spPr/>
        <p:txBody>
          <a:bodyPr/>
          <a:lstStyle/>
          <a:p>
            <a:fld id="{F91A7965-DE76-B84E-8824-69CD3E716B71}" type="slidenum">
              <a:rPr lang="en-US" smtClean="0"/>
              <a:t>6</a:t>
            </a:fld>
            <a:endParaRPr lang="en-US"/>
          </a:p>
        </p:txBody>
      </p:sp>
    </p:spTree>
    <p:extLst>
      <p:ext uri="{BB962C8B-B14F-4D97-AF65-F5344CB8AC3E}">
        <p14:creationId xmlns:p14="http://schemas.microsoft.com/office/powerpoint/2010/main" val="30730222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to put it into real context, a virus is much much smaller and has no space for any of this machinery</a:t>
            </a:r>
          </a:p>
        </p:txBody>
      </p:sp>
      <p:sp>
        <p:nvSpPr>
          <p:cNvPr id="4" name="Slide Number Placeholder 3"/>
          <p:cNvSpPr>
            <a:spLocks noGrp="1"/>
          </p:cNvSpPr>
          <p:nvPr>
            <p:ph type="sldNum" sz="quarter" idx="5"/>
          </p:nvPr>
        </p:nvSpPr>
        <p:spPr/>
        <p:txBody>
          <a:bodyPr/>
          <a:lstStyle/>
          <a:p>
            <a:fld id="{F91A7965-DE76-B84E-8824-69CD3E716B71}" type="slidenum">
              <a:rPr lang="en-US" smtClean="0"/>
              <a:t>7</a:t>
            </a:fld>
            <a:endParaRPr lang="en-US"/>
          </a:p>
        </p:txBody>
      </p:sp>
    </p:spTree>
    <p:extLst>
      <p:ext uri="{BB962C8B-B14F-4D97-AF65-F5344CB8AC3E}">
        <p14:creationId xmlns:p14="http://schemas.microsoft.com/office/powerpoint/2010/main" val="20503626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fact, the genome is only about 29k bases long and codes for only a handful of proteins.</a:t>
            </a:r>
          </a:p>
          <a:p>
            <a:r>
              <a:rPr lang="en-US" dirty="0"/>
              <a:t>The blue ones are used to hijack and reprogram the host cell, while the green ones are more structural and appear on the surface</a:t>
            </a:r>
          </a:p>
          <a:p>
            <a:endParaRPr lang="en-US" dirty="0"/>
          </a:p>
          <a:p>
            <a:r>
              <a:rPr lang="en-US" dirty="0"/>
              <a:t>Humans about 19’000-20’000 protein coding genes</a:t>
            </a:r>
          </a:p>
        </p:txBody>
      </p:sp>
      <p:sp>
        <p:nvSpPr>
          <p:cNvPr id="4" name="Slide Number Placeholder 3"/>
          <p:cNvSpPr>
            <a:spLocks noGrp="1"/>
          </p:cNvSpPr>
          <p:nvPr>
            <p:ph type="sldNum" sz="quarter" idx="5"/>
          </p:nvPr>
        </p:nvSpPr>
        <p:spPr/>
        <p:txBody>
          <a:bodyPr/>
          <a:lstStyle/>
          <a:p>
            <a:fld id="{F91A7965-DE76-B84E-8824-69CD3E716B71}" type="slidenum">
              <a:rPr lang="en-US" smtClean="0"/>
              <a:t>8</a:t>
            </a:fld>
            <a:endParaRPr lang="en-US"/>
          </a:p>
        </p:txBody>
      </p:sp>
    </p:spTree>
    <p:extLst>
      <p:ext uri="{BB962C8B-B14F-4D97-AF65-F5344CB8AC3E}">
        <p14:creationId xmlns:p14="http://schemas.microsoft.com/office/powerpoint/2010/main" val="1836956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Returning to the concept of variants. The genetic material has to be copied and during the copying process, mistakes can happen.</a:t>
            </a:r>
          </a:p>
          <a:p>
            <a:r>
              <a:rPr lang="en-US" dirty="0"/>
              <a:t>Left: central dogma</a:t>
            </a:r>
          </a:p>
          <a:p>
            <a:r>
              <a:rPr lang="en-US" dirty="0"/>
              <a:t>Right: an example of such a mistake. A mutation</a:t>
            </a:r>
          </a:p>
        </p:txBody>
      </p:sp>
      <p:sp>
        <p:nvSpPr>
          <p:cNvPr id="4" name="Slide Number Placeholder 3"/>
          <p:cNvSpPr>
            <a:spLocks noGrp="1"/>
          </p:cNvSpPr>
          <p:nvPr>
            <p:ph type="sldNum" sz="quarter" idx="5"/>
          </p:nvPr>
        </p:nvSpPr>
        <p:spPr/>
        <p:txBody>
          <a:bodyPr/>
          <a:lstStyle/>
          <a:p>
            <a:fld id="{F91A7965-DE76-B84E-8824-69CD3E716B71}" type="slidenum">
              <a:rPr lang="en-US" smtClean="0"/>
              <a:t>9</a:t>
            </a:fld>
            <a:endParaRPr lang="en-US"/>
          </a:p>
        </p:txBody>
      </p:sp>
    </p:spTree>
    <p:extLst>
      <p:ext uri="{BB962C8B-B14F-4D97-AF65-F5344CB8AC3E}">
        <p14:creationId xmlns:p14="http://schemas.microsoft.com/office/powerpoint/2010/main" val="29966714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example of how a single letter mutation can lead to a change in amino acid downstream. </a:t>
            </a:r>
          </a:p>
          <a:p>
            <a:r>
              <a:rPr lang="en-US" dirty="0"/>
              <a:t>Amino acids all have different properties, so this can lead to a different behavior of the final protein</a:t>
            </a:r>
          </a:p>
          <a:p>
            <a:endParaRPr lang="en-US" dirty="0"/>
          </a:p>
          <a:p>
            <a:r>
              <a:rPr lang="en-US" dirty="0"/>
              <a:t>With a certain amount of mutations, a virus can gain an evolutionary advantage over others. This is when we speak of a variant</a:t>
            </a:r>
          </a:p>
        </p:txBody>
      </p:sp>
      <p:sp>
        <p:nvSpPr>
          <p:cNvPr id="4" name="Slide Number Placeholder 3"/>
          <p:cNvSpPr>
            <a:spLocks noGrp="1"/>
          </p:cNvSpPr>
          <p:nvPr>
            <p:ph type="sldNum" sz="quarter" idx="5"/>
          </p:nvPr>
        </p:nvSpPr>
        <p:spPr/>
        <p:txBody>
          <a:bodyPr/>
          <a:lstStyle/>
          <a:p>
            <a:fld id="{F91A7965-DE76-B84E-8824-69CD3E716B71}" type="slidenum">
              <a:rPr lang="en-US" smtClean="0"/>
              <a:t>10</a:t>
            </a:fld>
            <a:endParaRPr lang="en-US"/>
          </a:p>
        </p:txBody>
      </p:sp>
    </p:spTree>
    <p:extLst>
      <p:ext uri="{BB962C8B-B14F-4D97-AF65-F5344CB8AC3E}">
        <p14:creationId xmlns:p14="http://schemas.microsoft.com/office/powerpoint/2010/main" val="10556068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Spike is a key protein during the initial contact and infection of a cell</a:t>
            </a:r>
          </a:p>
        </p:txBody>
      </p:sp>
      <p:sp>
        <p:nvSpPr>
          <p:cNvPr id="4" name="Slide Number Placeholder 3"/>
          <p:cNvSpPr>
            <a:spLocks noGrp="1"/>
          </p:cNvSpPr>
          <p:nvPr>
            <p:ph type="sldNum" sz="quarter" idx="5"/>
          </p:nvPr>
        </p:nvSpPr>
        <p:spPr/>
        <p:txBody>
          <a:bodyPr/>
          <a:lstStyle/>
          <a:p>
            <a:fld id="{F91A7965-DE76-B84E-8824-69CD3E716B71}" type="slidenum">
              <a:rPr lang="en-US" smtClean="0"/>
              <a:t>11</a:t>
            </a:fld>
            <a:endParaRPr lang="en-US"/>
          </a:p>
        </p:txBody>
      </p:sp>
    </p:spTree>
    <p:extLst>
      <p:ext uri="{BB962C8B-B14F-4D97-AF65-F5344CB8AC3E}">
        <p14:creationId xmlns:p14="http://schemas.microsoft.com/office/powerpoint/2010/main" val="27314884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it plays its important role</a:t>
            </a:r>
          </a:p>
        </p:txBody>
      </p:sp>
      <p:sp>
        <p:nvSpPr>
          <p:cNvPr id="4" name="Slide Number Placeholder 3"/>
          <p:cNvSpPr>
            <a:spLocks noGrp="1"/>
          </p:cNvSpPr>
          <p:nvPr>
            <p:ph type="sldNum" sz="quarter" idx="5"/>
          </p:nvPr>
        </p:nvSpPr>
        <p:spPr/>
        <p:txBody>
          <a:bodyPr/>
          <a:lstStyle/>
          <a:p>
            <a:fld id="{F91A7965-DE76-B84E-8824-69CD3E716B71}" type="slidenum">
              <a:rPr lang="en-US" smtClean="0"/>
              <a:t>12</a:t>
            </a:fld>
            <a:endParaRPr lang="en-US"/>
          </a:p>
        </p:txBody>
      </p:sp>
    </p:spTree>
    <p:extLst>
      <p:ext uri="{BB962C8B-B14F-4D97-AF65-F5344CB8AC3E}">
        <p14:creationId xmlns:p14="http://schemas.microsoft.com/office/powerpoint/2010/main" val="3455106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interacts with a completely unrelated protein on the cell surface. It just happens to bind very well to ACE2</a:t>
            </a:r>
          </a:p>
        </p:txBody>
      </p:sp>
      <p:sp>
        <p:nvSpPr>
          <p:cNvPr id="4" name="Slide Number Placeholder 3"/>
          <p:cNvSpPr>
            <a:spLocks noGrp="1"/>
          </p:cNvSpPr>
          <p:nvPr>
            <p:ph type="sldNum" sz="quarter" idx="5"/>
          </p:nvPr>
        </p:nvSpPr>
        <p:spPr/>
        <p:txBody>
          <a:bodyPr/>
          <a:lstStyle/>
          <a:p>
            <a:fld id="{F91A7965-DE76-B84E-8824-69CD3E716B71}" type="slidenum">
              <a:rPr lang="en-US" smtClean="0"/>
              <a:t>13</a:t>
            </a:fld>
            <a:endParaRPr lang="en-US"/>
          </a:p>
        </p:txBody>
      </p:sp>
    </p:spTree>
    <p:extLst>
      <p:ext uri="{BB962C8B-B14F-4D97-AF65-F5344CB8AC3E}">
        <p14:creationId xmlns:p14="http://schemas.microsoft.com/office/powerpoint/2010/main" val="21348644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increasing mutations in the spike protein, it actually got better at sticking to the cell surface. It slowly changed its shape with mutations. </a:t>
            </a:r>
          </a:p>
          <a:p>
            <a:r>
              <a:rPr lang="en-US" dirty="0"/>
              <a:t>Omicron is much more infectious than the original virus, but luckily, generally lead to a milder disease</a:t>
            </a:r>
          </a:p>
        </p:txBody>
      </p:sp>
      <p:sp>
        <p:nvSpPr>
          <p:cNvPr id="4" name="Slide Number Placeholder 3"/>
          <p:cNvSpPr>
            <a:spLocks noGrp="1"/>
          </p:cNvSpPr>
          <p:nvPr>
            <p:ph type="sldNum" sz="quarter" idx="5"/>
          </p:nvPr>
        </p:nvSpPr>
        <p:spPr/>
        <p:txBody>
          <a:bodyPr/>
          <a:lstStyle/>
          <a:p>
            <a:fld id="{F91A7965-DE76-B84E-8824-69CD3E716B71}" type="slidenum">
              <a:rPr lang="en-US" smtClean="0"/>
              <a:t>14</a:t>
            </a:fld>
            <a:endParaRPr lang="en-US"/>
          </a:p>
        </p:txBody>
      </p:sp>
    </p:spTree>
    <p:extLst>
      <p:ext uri="{BB962C8B-B14F-4D97-AF65-F5344CB8AC3E}">
        <p14:creationId xmlns:p14="http://schemas.microsoft.com/office/powerpoint/2010/main" val="14695736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us back to our original example of Omicron in Europe.</a:t>
            </a:r>
          </a:p>
          <a:p>
            <a:r>
              <a:rPr lang="en-US" dirty="0"/>
              <a:t>Because of the number of mutations, the spike test in Belgium was negative but the covid test was positive.</a:t>
            </a:r>
          </a:p>
          <a:p>
            <a:r>
              <a:rPr lang="en-US" dirty="0"/>
              <a:t>Further investigation then revealed the new variant made it to Europe</a:t>
            </a:r>
          </a:p>
        </p:txBody>
      </p:sp>
      <p:sp>
        <p:nvSpPr>
          <p:cNvPr id="4" name="Slide Number Placeholder 3"/>
          <p:cNvSpPr>
            <a:spLocks noGrp="1"/>
          </p:cNvSpPr>
          <p:nvPr>
            <p:ph type="sldNum" sz="quarter" idx="5"/>
          </p:nvPr>
        </p:nvSpPr>
        <p:spPr/>
        <p:txBody>
          <a:bodyPr/>
          <a:lstStyle/>
          <a:p>
            <a:fld id="{F91A7965-DE76-B84E-8824-69CD3E716B71}" type="slidenum">
              <a:rPr lang="en-US" smtClean="0"/>
              <a:t>15</a:t>
            </a:fld>
            <a:endParaRPr lang="en-US"/>
          </a:p>
        </p:txBody>
      </p:sp>
    </p:spTree>
    <p:extLst>
      <p:ext uri="{BB962C8B-B14F-4D97-AF65-F5344CB8AC3E}">
        <p14:creationId xmlns:p14="http://schemas.microsoft.com/office/powerpoint/2010/main" val="28202427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take home message is the role of open data. Thanks to this, the pandemic could be handled much more efficiently</a:t>
            </a:r>
          </a:p>
        </p:txBody>
      </p:sp>
      <p:sp>
        <p:nvSpPr>
          <p:cNvPr id="4" name="Slide Number Placeholder 3"/>
          <p:cNvSpPr>
            <a:spLocks noGrp="1"/>
          </p:cNvSpPr>
          <p:nvPr>
            <p:ph type="sldNum" sz="quarter" idx="5"/>
          </p:nvPr>
        </p:nvSpPr>
        <p:spPr/>
        <p:txBody>
          <a:bodyPr/>
          <a:lstStyle/>
          <a:p>
            <a:fld id="{F91A7965-DE76-B84E-8824-69CD3E716B71}" type="slidenum">
              <a:rPr lang="en-US" smtClean="0"/>
              <a:t>16</a:t>
            </a:fld>
            <a:endParaRPr lang="en-US"/>
          </a:p>
        </p:txBody>
      </p:sp>
    </p:spTree>
    <p:extLst>
      <p:ext uri="{BB962C8B-B14F-4D97-AF65-F5344CB8AC3E}">
        <p14:creationId xmlns:p14="http://schemas.microsoft.com/office/powerpoint/2010/main" val="12396100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Advertisement for us</a:t>
            </a:r>
          </a:p>
        </p:txBody>
      </p:sp>
      <p:sp>
        <p:nvSpPr>
          <p:cNvPr id="4" name="Slide Number Placeholder 3"/>
          <p:cNvSpPr>
            <a:spLocks noGrp="1"/>
          </p:cNvSpPr>
          <p:nvPr>
            <p:ph type="sldNum" sz="quarter" idx="5"/>
          </p:nvPr>
        </p:nvSpPr>
        <p:spPr/>
        <p:txBody>
          <a:bodyPr/>
          <a:lstStyle/>
          <a:p>
            <a:fld id="{F91A7965-DE76-B84E-8824-69CD3E716B71}" type="slidenum">
              <a:rPr lang="en-US" smtClean="0"/>
              <a:t>17</a:t>
            </a:fld>
            <a:endParaRPr lang="en-US"/>
          </a:p>
        </p:txBody>
      </p:sp>
    </p:spTree>
    <p:extLst>
      <p:ext uri="{BB962C8B-B14F-4D97-AF65-F5344CB8AC3E}">
        <p14:creationId xmlns:p14="http://schemas.microsoft.com/office/powerpoint/2010/main" val="5997306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F5D8F-390F-A23F-6D3F-F4E2B6C9D36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4A81714-874C-20A2-1F4B-598EB08B04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E6F82C3-D322-2327-FDD7-36153289DF52}"/>
              </a:ext>
            </a:extLst>
          </p:cNvPr>
          <p:cNvSpPr>
            <a:spLocks noGrp="1"/>
          </p:cNvSpPr>
          <p:nvPr>
            <p:ph type="dt" sz="half" idx="10"/>
          </p:nvPr>
        </p:nvSpPr>
        <p:spPr/>
        <p:txBody>
          <a:bodyPr/>
          <a:lstStyle/>
          <a:p>
            <a:fld id="{32482934-4570-374B-9F9D-A7B95142346F}" type="datetimeFigureOut">
              <a:rPr lang="en-US" smtClean="0"/>
              <a:t>10/15/26</a:t>
            </a:fld>
            <a:endParaRPr lang="en-US"/>
          </a:p>
        </p:txBody>
      </p:sp>
      <p:sp>
        <p:nvSpPr>
          <p:cNvPr id="5" name="Footer Placeholder 4">
            <a:extLst>
              <a:ext uri="{FF2B5EF4-FFF2-40B4-BE49-F238E27FC236}">
                <a16:creationId xmlns:a16="http://schemas.microsoft.com/office/drawing/2014/main" id="{C9CA32C9-2965-EE5E-9EE1-922DFB11D5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CE100-7565-316A-9FA5-83765AE76842}"/>
              </a:ext>
            </a:extLst>
          </p:cNvPr>
          <p:cNvSpPr>
            <a:spLocks noGrp="1"/>
          </p:cNvSpPr>
          <p:nvPr>
            <p:ph type="sldNum" sz="quarter" idx="12"/>
          </p:nvPr>
        </p:nvSpPr>
        <p:spPr/>
        <p:txBody>
          <a:bodyPr/>
          <a:lstStyle/>
          <a:p>
            <a:fld id="{60E168DB-DDAC-A64A-89B0-B51C9232599A}" type="slidenum">
              <a:rPr lang="en-US" smtClean="0"/>
              <a:t>‹#›</a:t>
            </a:fld>
            <a:endParaRPr lang="en-US"/>
          </a:p>
        </p:txBody>
      </p:sp>
    </p:spTree>
    <p:extLst>
      <p:ext uri="{BB962C8B-B14F-4D97-AF65-F5344CB8AC3E}">
        <p14:creationId xmlns:p14="http://schemas.microsoft.com/office/powerpoint/2010/main" val="8781668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CC1D0-47AE-4E46-56D5-A9734682889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2E2FEE-889A-20EE-2D81-CDC23D38665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06B62AF-1930-2296-0154-B22F4585ADDC}"/>
              </a:ext>
            </a:extLst>
          </p:cNvPr>
          <p:cNvSpPr>
            <a:spLocks noGrp="1"/>
          </p:cNvSpPr>
          <p:nvPr>
            <p:ph type="dt" sz="half" idx="10"/>
          </p:nvPr>
        </p:nvSpPr>
        <p:spPr/>
        <p:txBody>
          <a:bodyPr/>
          <a:lstStyle/>
          <a:p>
            <a:fld id="{32482934-4570-374B-9F9D-A7B95142346F}" type="datetimeFigureOut">
              <a:rPr lang="en-US" smtClean="0"/>
              <a:t>10/15/26</a:t>
            </a:fld>
            <a:endParaRPr lang="en-US"/>
          </a:p>
        </p:txBody>
      </p:sp>
      <p:sp>
        <p:nvSpPr>
          <p:cNvPr id="5" name="Footer Placeholder 4">
            <a:extLst>
              <a:ext uri="{FF2B5EF4-FFF2-40B4-BE49-F238E27FC236}">
                <a16:creationId xmlns:a16="http://schemas.microsoft.com/office/drawing/2014/main" id="{3D2BC47D-8050-C521-4ACA-47E130483B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18E33B-C725-94E7-5E9C-ECAA5CA34AC9}"/>
              </a:ext>
            </a:extLst>
          </p:cNvPr>
          <p:cNvSpPr>
            <a:spLocks noGrp="1"/>
          </p:cNvSpPr>
          <p:nvPr>
            <p:ph type="sldNum" sz="quarter" idx="12"/>
          </p:nvPr>
        </p:nvSpPr>
        <p:spPr/>
        <p:txBody>
          <a:bodyPr/>
          <a:lstStyle/>
          <a:p>
            <a:fld id="{60E168DB-DDAC-A64A-89B0-B51C9232599A}" type="slidenum">
              <a:rPr lang="en-US" smtClean="0"/>
              <a:t>‹#›</a:t>
            </a:fld>
            <a:endParaRPr lang="en-US"/>
          </a:p>
        </p:txBody>
      </p:sp>
    </p:spTree>
    <p:extLst>
      <p:ext uri="{BB962C8B-B14F-4D97-AF65-F5344CB8AC3E}">
        <p14:creationId xmlns:p14="http://schemas.microsoft.com/office/powerpoint/2010/main" val="27031717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4E856-4CC4-B499-B37D-D776407D09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B27B92-C2B4-8FD6-BAB7-405FC9A90BF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4DA636-935E-E1F5-13C7-3FBB2B308655}"/>
              </a:ext>
            </a:extLst>
          </p:cNvPr>
          <p:cNvSpPr>
            <a:spLocks noGrp="1"/>
          </p:cNvSpPr>
          <p:nvPr>
            <p:ph type="dt" sz="half" idx="10"/>
          </p:nvPr>
        </p:nvSpPr>
        <p:spPr/>
        <p:txBody>
          <a:bodyPr/>
          <a:lstStyle/>
          <a:p>
            <a:fld id="{32482934-4570-374B-9F9D-A7B95142346F}" type="datetimeFigureOut">
              <a:rPr lang="en-US" smtClean="0"/>
              <a:t>10/15/26</a:t>
            </a:fld>
            <a:endParaRPr lang="en-US"/>
          </a:p>
        </p:txBody>
      </p:sp>
      <p:sp>
        <p:nvSpPr>
          <p:cNvPr id="5" name="Footer Placeholder 4">
            <a:extLst>
              <a:ext uri="{FF2B5EF4-FFF2-40B4-BE49-F238E27FC236}">
                <a16:creationId xmlns:a16="http://schemas.microsoft.com/office/drawing/2014/main" id="{928F3C7D-6478-B626-89B1-9E2F022F89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4E0EFF-40AC-496C-CCF1-B1C079BB67FB}"/>
              </a:ext>
            </a:extLst>
          </p:cNvPr>
          <p:cNvSpPr>
            <a:spLocks noGrp="1"/>
          </p:cNvSpPr>
          <p:nvPr>
            <p:ph type="sldNum" sz="quarter" idx="12"/>
          </p:nvPr>
        </p:nvSpPr>
        <p:spPr/>
        <p:txBody>
          <a:bodyPr/>
          <a:lstStyle/>
          <a:p>
            <a:fld id="{60E168DB-DDAC-A64A-89B0-B51C9232599A}" type="slidenum">
              <a:rPr lang="en-US" smtClean="0"/>
              <a:t>‹#›</a:t>
            </a:fld>
            <a:endParaRPr lang="en-US"/>
          </a:p>
        </p:txBody>
      </p:sp>
    </p:spTree>
    <p:extLst>
      <p:ext uri="{BB962C8B-B14F-4D97-AF65-F5344CB8AC3E}">
        <p14:creationId xmlns:p14="http://schemas.microsoft.com/office/powerpoint/2010/main" val="17121414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82819-BCC0-263B-9871-71EAB63DD31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CC2868F-3DC1-B829-98F7-A96455CCDC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CFF4087-1432-D517-A9BA-0B2AB84FD9D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1794369-487D-581D-26A0-1CE0A605F84A}"/>
              </a:ext>
            </a:extLst>
          </p:cNvPr>
          <p:cNvSpPr>
            <a:spLocks noGrp="1"/>
          </p:cNvSpPr>
          <p:nvPr>
            <p:ph type="dt" sz="half" idx="10"/>
          </p:nvPr>
        </p:nvSpPr>
        <p:spPr/>
        <p:txBody>
          <a:bodyPr/>
          <a:lstStyle/>
          <a:p>
            <a:fld id="{32482934-4570-374B-9F9D-A7B95142346F}" type="datetimeFigureOut">
              <a:rPr lang="en-US" smtClean="0"/>
              <a:t>10/15/26</a:t>
            </a:fld>
            <a:endParaRPr lang="en-US"/>
          </a:p>
        </p:txBody>
      </p:sp>
      <p:sp>
        <p:nvSpPr>
          <p:cNvPr id="6" name="Footer Placeholder 5">
            <a:extLst>
              <a:ext uri="{FF2B5EF4-FFF2-40B4-BE49-F238E27FC236}">
                <a16:creationId xmlns:a16="http://schemas.microsoft.com/office/drawing/2014/main" id="{A7EB7F39-6972-A70B-88CA-14A514BF00C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AE4E19-CA26-B97C-DFCB-B72DF8C2A0F9}"/>
              </a:ext>
            </a:extLst>
          </p:cNvPr>
          <p:cNvSpPr>
            <a:spLocks noGrp="1"/>
          </p:cNvSpPr>
          <p:nvPr>
            <p:ph type="sldNum" sz="quarter" idx="12"/>
          </p:nvPr>
        </p:nvSpPr>
        <p:spPr/>
        <p:txBody>
          <a:bodyPr/>
          <a:lstStyle/>
          <a:p>
            <a:fld id="{60E168DB-DDAC-A64A-89B0-B51C9232599A}" type="slidenum">
              <a:rPr lang="en-US" smtClean="0"/>
              <a:t>‹#›</a:t>
            </a:fld>
            <a:endParaRPr lang="en-US"/>
          </a:p>
        </p:txBody>
      </p:sp>
    </p:spTree>
    <p:extLst>
      <p:ext uri="{BB962C8B-B14F-4D97-AF65-F5344CB8AC3E}">
        <p14:creationId xmlns:p14="http://schemas.microsoft.com/office/powerpoint/2010/main" val="37285265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031FFD-E818-C5F4-1208-B788EC3301C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FF44111-C23B-8608-9C7A-CD414DB893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661374F-CF7B-A032-5A56-5EF6B061F7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2594037-E0BD-A219-8CCF-3171D0B4EB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E4CE7B5-EEE2-39A4-3FB8-C1849E85A5F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733E7EA-E7D3-4823-666C-4EFBA605E4AA}"/>
              </a:ext>
            </a:extLst>
          </p:cNvPr>
          <p:cNvSpPr>
            <a:spLocks noGrp="1"/>
          </p:cNvSpPr>
          <p:nvPr>
            <p:ph type="dt" sz="half" idx="10"/>
          </p:nvPr>
        </p:nvSpPr>
        <p:spPr/>
        <p:txBody>
          <a:bodyPr/>
          <a:lstStyle/>
          <a:p>
            <a:fld id="{32482934-4570-374B-9F9D-A7B95142346F}" type="datetimeFigureOut">
              <a:rPr lang="en-US" smtClean="0"/>
              <a:t>10/15/26</a:t>
            </a:fld>
            <a:endParaRPr lang="en-US"/>
          </a:p>
        </p:txBody>
      </p:sp>
      <p:sp>
        <p:nvSpPr>
          <p:cNvPr id="8" name="Footer Placeholder 7">
            <a:extLst>
              <a:ext uri="{FF2B5EF4-FFF2-40B4-BE49-F238E27FC236}">
                <a16:creationId xmlns:a16="http://schemas.microsoft.com/office/drawing/2014/main" id="{C862E5E4-BCCC-FA35-CDA0-433CDF99D44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72B4931-82DB-BF69-42CB-77D7452FF21B}"/>
              </a:ext>
            </a:extLst>
          </p:cNvPr>
          <p:cNvSpPr>
            <a:spLocks noGrp="1"/>
          </p:cNvSpPr>
          <p:nvPr>
            <p:ph type="sldNum" sz="quarter" idx="12"/>
          </p:nvPr>
        </p:nvSpPr>
        <p:spPr/>
        <p:txBody>
          <a:bodyPr/>
          <a:lstStyle/>
          <a:p>
            <a:fld id="{60E168DB-DDAC-A64A-89B0-B51C9232599A}" type="slidenum">
              <a:rPr lang="en-US" smtClean="0"/>
              <a:t>‹#›</a:t>
            </a:fld>
            <a:endParaRPr lang="en-US"/>
          </a:p>
        </p:txBody>
      </p:sp>
    </p:spTree>
    <p:extLst>
      <p:ext uri="{BB962C8B-B14F-4D97-AF65-F5344CB8AC3E}">
        <p14:creationId xmlns:p14="http://schemas.microsoft.com/office/powerpoint/2010/main" val="26730558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E26D74-1B79-2808-7FD1-4B4F7DACE83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356C298-9584-9F12-D285-DDEBDD9ACBF5}"/>
              </a:ext>
            </a:extLst>
          </p:cNvPr>
          <p:cNvSpPr>
            <a:spLocks noGrp="1"/>
          </p:cNvSpPr>
          <p:nvPr>
            <p:ph type="dt" sz="half" idx="10"/>
          </p:nvPr>
        </p:nvSpPr>
        <p:spPr/>
        <p:txBody>
          <a:bodyPr/>
          <a:lstStyle/>
          <a:p>
            <a:fld id="{32482934-4570-374B-9F9D-A7B95142346F}" type="datetimeFigureOut">
              <a:rPr lang="en-US" smtClean="0"/>
              <a:t>10/15/26</a:t>
            </a:fld>
            <a:endParaRPr lang="en-US"/>
          </a:p>
        </p:txBody>
      </p:sp>
      <p:sp>
        <p:nvSpPr>
          <p:cNvPr id="4" name="Footer Placeholder 3">
            <a:extLst>
              <a:ext uri="{FF2B5EF4-FFF2-40B4-BE49-F238E27FC236}">
                <a16:creationId xmlns:a16="http://schemas.microsoft.com/office/drawing/2014/main" id="{7ECC7B13-DBC4-6793-F24D-F5EE7E9187D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3BBA745-4764-08A1-04C0-2F21A5102B2B}"/>
              </a:ext>
            </a:extLst>
          </p:cNvPr>
          <p:cNvSpPr>
            <a:spLocks noGrp="1"/>
          </p:cNvSpPr>
          <p:nvPr>
            <p:ph type="sldNum" sz="quarter" idx="12"/>
          </p:nvPr>
        </p:nvSpPr>
        <p:spPr/>
        <p:txBody>
          <a:bodyPr/>
          <a:lstStyle/>
          <a:p>
            <a:fld id="{60E168DB-DDAC-A64A-89B0-B51C9232599A}" type="slidenum">
              <a:rPr lang="en-US" smtClean="0"/>
              <a:t>‹#›</a:t>
            </a:fld>
            <a:endParaRPr lang="en-US"/>
          </a:p>
        </p:txBody>
      </p:sp>
    </p:spTree>
    <p:extLst>
      <p:ext uri="{BB962C8B-B14F-4D97-AF65-F5344CB8AC3E}">
        <p14:creationId xmlns:p14="http://schemas.microsoft.com/office/powerpoint/2010/main" val="29712245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6FA9B9-D826-82DD-10FB-9A6022496B66}"/>
              </a:ext>
            </a:extLst>
          </p:cNvPr>
          <p:cNvSpPr>
            <a:spLocks noGrp="1"/>
          </p:cNvSpPr>
          <p:nvPr>
            <p:ph type="dt" sz="half" idx="10"/>
          </p:nvPr>
        </p:nvSpPr>
        <p:spPr/>
        <p:txBody>
          <a:bodyPr/>
          <a:lstStyle/>
          <a:p>
            <a:fld id="{32482934-4570-374B-9F9D-A7B95142346F}" type="datetimeFigureOut">
              <a:rPr lang="en-US" smtClean="0"/>
              <a:t>10/15/26</a:t>
            </a:fld>
            <a:endParaRPr lang="en-US"/>
          </a:p>
        </p:txBody>
      </p:sp>
      <p:sp>
        <p:nvSpPr>
          <p:cNvPr id="3" name="Footer Placeholder 2">
            <a:extLst>
              <a:ext uri="{FF2B5EF4-FFF2-40B4-BE49-F238E27FC236}">
                <a16:creationId xmlns:a16="http://schemas.microsoft.com/office/drawing/2014/main" id="{F3384582-05C6-1124-A7F0-2B5903B102A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1C977C-44B7-BCF4-C7C7-D7100BF263EA}"/>
              </a:ext>
            </a:extLst>
          </p:cNvPr>
          <p:cNvSpPr>
            <a:spLocks noGrp="1"/>
          </p:cNvSpPr>
          <p:nvPr>
            <p:ph type="sldNum" sz="quarter" idx="12"/>
          </p:nvPr>
        </p:nvSpPr>
        <p:spPr/>
        <p:txBody>
          <a:bodyPr/>
          <a:lstStyle/>
          <a:p>
            <a:fld id="{60E168DB-DDAC-A64A-89B0-B51C9232599A}" type="slidenum">
              <a:rPr lang="en-US" smtClean="0"/>
              <a:t>‹#›</a:t>
            </a:fld>
            <a:endParaRPr lang="en-US"/>
          </a:p>
        </p:txBody>
      </p:sp>
    </p:spTree>
    <p:extLst>
      <p:ext uri="{BB962C8B-B14F-4D97-AF65-F5344CB8AC3E}">
        <p14:creationId xmlns:p14="http://schemas.microsoft.com/office/powerpoint/2010/main" val="22280419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B7A2D-472D-BEBF-7CA6-E04BB7DBEB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E5A3345-952F-0669-025A-851D3612D9A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F8EF9B5-AD3A-B9CA-CBDA-942EB4E802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8AF72F7-6919-E34D-C229-B2E36CA4152C}"/>
              </a:ext>
            </a:extLst>
          </p:cNvPr>
          <p:cNvSpPr>
            <a:spLocks noGrp="1"/>
          </p:cNvSpPr>
          <p:nvPr>
            <p:ph type="dt" sz="half" idx="10"/>
          </p:nvPr>
        </p:nvSpPr>
        <p:spPr/>
        <p:txBody>
          <a:bodyPr/>
          <a:lstStyle/>
          <a:p>
            <a:fld id="{32482934-4570-374B-9F9D-A7B95142346F}" type="datetimeFigureOut">
              <a:rPr lang="en-US" smtClean="0"/>
              <a:t>10/15/26</a:t>
            </a:fld>
            <a:endParaRPr lang="en-US"/>
          </a:p>
        </p:txBody>
      </p:sp>
      <p:sp>
        <p:nvSpPr>
          <p:cNvPr id="6" name="Footer Placeholder 5">
            <a:extLst>
              <a:ext uri="{FF2B5EF4-FFF2-40B4-BE49-F238E27FC236}">
                <a16:creationId xmlns:a16="http://schemas.microsoft.com/office/drawing/2014/main" id="{045E2578-3CA1-90BD-FD91-E87053F12B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4973D6B-EA4D-0382-2417-28F708EA2E16}"/>
              </a:ext>
            </a:extLst>
          </p:cNvPr>
          <p:cNvSpPr>
            <a:spLocks noGrp="1"/>
          </p:cNvSpPr>
          <p:nvPr>
            <p:ph type="sldNum" sz="quarter" idx="12"/>
          </p:nvPr>
        </p:nvSpPr>
        <p:spPr/>
        <p:txBody>
          <a:bodyPr/>
          <a:lstStyle/>
          <a:p>
            <a:fld id="{60E168DB-DDAC-A64A-89B0-B51C9232599A}" type="slidenum">
              <a:rPr lang="en-US" smtClean="0"/>
              <a:t>‹#›</a:t>
            </a:fld>
            <a:endParaRPr lang="en-US"/>
          </a:p>
        </p:txBody>
      </p:sp>
    </p:spTree>
    <p:extLst>
      <p:ext uri="{BB962C8B-B14F-4D97-AF65-F5344CB8AC3E}">
        <p14:creationId xmlns:p14="http://schemas.microsoft.com/office/powerpoint/2010/main" val="38738166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D02E-A911-D92A-0E7C-7F68661271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A9991DB-A226-DCEE-6A66-49F0451D5595}"/>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50CDE4A-45F1-55E6-097D-23E20F5B49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6FD63F3-DBCC-B9F6-BDEE-66D8635DCDCB}"/>
              </a:ext>
            </a:extLst>
          </p:cNvPr>
          <p:cNvSpPr>
            <a:spLocks noGrp="1"/>
          </p:cNvSpPr>
          <p:nvPr>
            <p:ph type="dt" sz="half" idx="10"/>
          </p:nvPr>
        </p:nvSpPr>
        <p:spPr/>
        <p:txBody>
          <a:bodyPr/>
          <a:lstStyle/>
          <a:p>
            <a:fld id="{32482934-4570-374B-9F9D-A7B95142346F}" type="datetimeFigureOut">
              <a:rPr lang="en-US" smtClean="0"/>
              <a:t>10/15/26</a:t>
            </a:fld>
            <a:endParaRPr lang="en-US"/>
          </a:p>
        </p:txBody>
      </p:sp>
      <p:sp>
        <p:nvSpPr>
          <p:cNvPr id="6" name="Footer Placeholder 5">
            <a:extLst>
              <a:ext uri="{FF2B5EF4-FFF2-40B4-BE49-F238E27FC236}">
                <a16:creationId xmlns:a16="http://schemas.microsoft.com/office/drawing/2014/main" id="{B25965A5-B631-2E9F-B0DF-DE2E92D716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9A8104-A164-7F94-4835-0F1529DC3F03}"/>
              </a:ext>
            </a:extLst>
          </p:cNvPr>
          <p:cNvSpPr>
            <a:spLocks noGrp="1"/>
          </p:cNvSpPr>
          <p:nvPr>
            <p:ph type="sldNum" sz="quarter" idx="12"/>
          </p:nvPr>
        </p:nvSpPr>
        <p:spPr/>
        <p:txBody>
          <a:bodyPr/>
          <a:lstStyle/>
          <a:p>
            <a:fld id="{60E168DB-DDAC-A64A-89B0-B51C9232599A}" type="slidenum">
              <a:rPr lang="en-US" smtClean="0"/>
              <a:t>‹#›</a:t>
            </a:fld>
            <a:endParaRPr lang="en-US"/>
          </a:p>
        </p:txBody>
      </p:sp>
    </p:spTree>
    <p:extLst>
      <p:ext uri="{BB962C8B-B14F-4D97-AF65-F5344CB8AC3E}">
        <p14:creationId xmlns:p14="http://schemas.microsoft.com/office/powerpoint/2010/main" val="26126649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42B84-A09C-D562-7625-57B678BE2BE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36DD008-3C1A-3964-1E60-43968FCBD9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328C6A1-12EF-A662-C0ED-4EC4754499B4}"/>
              </a:ext>
            </a:extLst>
          </p:cNvPr>
          <p:cNvSpPr>
            <a:spLocks noGrp="1"/>
          </p:cNvSpPr>
          <p:nvPr>
            <p:ph type="dt" sz="half" idx="10"/>
          </p:nvPr>
        </p:nvSpPr>
        <p:spPr/>
        <p:txBody>
          <a:bodyPr/>
          <a:lstStyle/>
          <a:p>
            <a:fld id="{32482934-4570-374B-9F9D-A7B95142346F}" type="datetimeFigureOut">
              <a:rPr lang="en-US" smtClean="0"/>
              <a:t>10/15/26</a:t>
            </a:fld>
            <a:endParaRPr lang="en-US"/>
          </a:p>
        </p:txBody>
      </p:sp>
      <p:sp>
        <p:nvSpPr>
          <p:cNvPr id="5" name="Footer Placeholder 4">
            <a:extLst>
              <a:ext uri="{FF2B5EF4-FFF2-40B4-BE49-F238E27FC236}">
                <a16:creationId xmlns:a16="http://schemas.microsoft.com/office/drawing/2014/main" id="{63B169C0-D5CF-4759-D0F5-BF563FDF60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B7BE56B-700C-2B37-1D91-DF8020AE5CCF}"/>
              </a:ext>
            </a:extLst>
          </p:cNvPr>
          <p:cNvSpPr>
            <a:spLocks noGrp="1"/>
          </p:cNvSpPr>
          <p:nvPr>
            <p:ph type="sldNum" sz="quarter" idx="12"/>
          </p:nvPr>
        </p:nvSpPr>
        <p:spPr/>
        <p:txBody>
          <a:bodyPr/>
          <a:lstStyle/>
          <a:p>
            <a:fld id="{60E168DB-DDAC-A64A-89B0-B51C9232599A}" type="slidenum">
              <a:rPr lang="en-US" smtClean="0"/>
              <a:t>‹#›</a:t>
            </a:fld>
            <a:endParaRPr lang="en-US"/>
          </a:p>
        </p:txBody>
      </p:sp>
    </p:spTree>
    <p:extLst>
      <p:ext uri="{BB962C8B-B14F-4D97-AF65-F5344CB8AC3E}">
        <p14:creationId xmlns:p14="http://schemas.microsoft.com/office/powerpoint/2010/main" val="9425368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F3425D-909D-1C0A-60DB-879E2D2D929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9CB038E-A2D7-217F-2BC7-60830C496D5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88EF218-7DC6-3EC6-D694-19EC2A16E33B}"/>
              </a:ext>
            </a:extLst>
          </p:cNvPr>
          <p:cNvSpPr>
            <a:spLocks noGrp="1"/>
          </p:cNvSpPr>
          <p:nvPr>
            <p:ph type="dt" sz="half" idx="10"/>
          </p:nvPr>
        </p:nvSpPr>
        <p:spPr/>
        <p:txBody>
          <a:bodyPr/>
          <a:lstStyle/>
          <a:p>
            <a:fld id="{32482934-4570-374B-9F9D-A7B95142346F}" type="datetimeFigureOut">
              <a:rPr lang="en-US" smtClean="0"/>
              <a:t>10/15/26</a:t>
            </a:fld>
            <a:endParaRPr lang="en-US"/>
          </a:p>
        </p:txBody>
      </p:sp>
      <p:sp>
        <p:nvSpPr>
          <p:cNvPr id="5" name="Footer Placeholder 4">
            <a:extLst>
              <a:ext uri="{FF2B5EF4-FFF2-40B4-BE49-F238E27FC236}">
                <a16:creationId xmlns:a16="http://schemas.microsoft.com/office/drawing/2014/main" id="{CB3D9ED2-2AC5-CE75-060C-ED1707EA47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EC7889-5981-36C7-4741-2A586D4AA119}"/>
              </a:ext>
            </a:extLst>
          </p:cNvPr>
          <p:cNvSpPr>
            <a:spLocks noGrp="1"/>
          </p:cNvSpPr>
          <p:nvPr>
            <p:ph type="sldNum" sz="quarter" idx="12"/>
          </p:nvPr>
        </p:nvSpPr>
        <p:spPr/>
        <p:txBody>
          <a:bodyPr/>
          <a:lstStyle/>
          <a:p>
            <a:fld id="{60E168DB-DDAC-A64A-89B0-B51C9232599A}" type="slidenum">
              <a:rPr lang="en-US" smtClean="0"/>
              <a:t>‹#›</a:t>
            </a:fld>
            <a:endParaRPr lang="en-US"/>
          </a:p>
        </p:txBody>
      </p:sp>
    </p:spTree>
    <p:extLst>
      <p:ext uri="{BB962C8B-B14F-4D97-AF65-F5344CB8AC3E}">
        <p14:creationId xmlns:p14="http://schemas.microsoft.com/office/powerpoint/2010/main" val="3168436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9E55F57-DBFB-9091-C959-D5F17DCFCBA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3805121-C567-C4C2-1FC8-EE3D3AB604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9609FF-96DA-5B1A-C331-DB2A571C374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2482934-4570-374B-9F9D-A7B95142346F}" type="datetimeFigureOut">
              <a:rPr lang="en-US" smtClean="0"/>
              <a:t>10/15/26</a:t>
            </a:fld>
            <a:endParaRPr lang="en-US"/>
          </a:p>
        </p:txBody>
      </p:sp>
      <p:sp>
        <p:nvSpPr>
          <p:cNvPr id="5" name="Footer Placeholder 4">
            <a:extLst>
              <a:ext uri="{FF2B5EF4-FFF2-40B4-BE49-F238E27FC236}">
                <a16:creationId xmlns:a16="http://schemas.microsoft.com/office/drawing/2014/main" id="{B944D454-0CD1-A07F-3413-5B96E11786B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6F664B0-81BB-0994-BB19-AE6ACF3590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0E168DB-DDAC-A64A-89B0-B51C9232599A}" type="slidenum">
              <a:rPr lang="en-US" smtClean="0"/>
              <a:t>‹#›</a:t>
            </a:fld>
            <a:endParaRPr lang="en-US"/>
          </a:p>
        </p:txBody>
      </p:sp>
    </p:spTree>
    <p:extLst>
      <p:ext uri="{BB962C8B-B14F-4D97-AF65-F5344CB8AC3E}">
        <p14:creationId xmlns:p14="http://schemas.microsoft.com/office/powerpoint/2010/main" val="28775100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sv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sv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jpg"/><Relationship Id="rId4" Type="http://schemas.openxmlformats.org/officeDocument/2006/relationships/image" Target="../media/image9.jpg"/><Relationship Id="rId9"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15.jpg"/><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viralzone.expasy.org/5216"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20.jpg"/><Relationship Id="rId4" Type="http://schemas.openxmlformats.org/officeDocument/2006/relationships/hyperlink" Target="https://viralzone.expasy.org/678"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20.jpg"/><Relationship Id="rId4" Type="http://schemas.openxmlformats.org/officeDocument/2006/relationships/hyperlink" Target="https://viralzone.expasy.org/678"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4.jpg"/></Relationships>
</file>

<file path=ppt/slides/_rels/slide10.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0.jpg"/></Relationships>
</file>

<file path=ppt/slides/_rels/slide13.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30.jpg"/></Relationships>
</file>

<file path=ppt/slides/_rels/slide14.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9.jpg"/></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hyperlink" Target="https://kurzlink.ch/scov2"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7DA04C42-7AB5-E2B3-ACDE-5AB512A43A23}"/>
              </a:ext>
            </a:extLst>
          </p:cNvPr>
          <p:cNvPicPr>
            <a:picLocks noGrp="1" noRot="1" noChangeAspect="1" noMove="1" noResize="1" noEditPoints="1" noAdjustHandles="1" noChangeArrowheads="1" noChangeShapeType="1" noCrop="1"/>
          </p:cNvPicPr>
          <p:nvPr/>
        </p:nvPicPr>
        <p:blipFill>
          <a:blip r:embed="rId2">
            <a:alphaModFix amt="10000"/>
          </a:blip>
          <a:srcRect/>
          <a:stretch>
            <a:fillRect/>
          </a:stretch>
        </p:blipFill>
        <p:spPr>
          <a:xfrm>
            <a:off x="-1628322" y="0"/>
            <a:ext cx="13862854" cy="6858000"/>
          </a:xfrm>
          <a:prstGeom prst="rect">
            <a:avLst/>
          </a:prstGeom>
        </p:spPr>
      </p:pic>
      <p:pic>
        <p:nvPicPr>
          <p:cNvPr id="5" name="Picture 4">
            <a:extLst>
              <a:ext uri="{FF2B5EF4-FFF2-40B4-BE49-F238E27FC236}">
                <a16:creationId xmlns:a16="http://schemas.microsoft.com/office/drawing/2014/main" id="{ACC4E643-48D3-CD5D-4D1D-6D94CF9FF727}"/>
              </a:ext>
            </a:extLst>
          </p:cNvPr>
          <p:cNvPicPr>
            <a:picLocks noChangeAspect="1"/>
          </p:cNvPicPr>
          <p:nvPr/>
        </p:nvPicPr>
        <p:blipFill>
          <a:blip r:embed="rId3"/>
          <a:stretch>
            <a:fillRect/>
          </a:stretch>
        </p:blipFill>
        <p:spPr>
          <a:xfrm>
            <a:off x="98878" y="5673271"/>
            <a:ext cx="1982268" cy="1054100"/>
          </a:xfrm>
          <a:prstGeom prst="rect">
            <a:avLst/>
          </a:prstGeom>
        </p:spPr>
      </p:pic>
      <p:pic>
        <p:nvPicPr>
          <p:cNvPr id="8" name="Picture 7" descr="Coronavirus particle, illustration">
            <a:extLst>
              <a:ext uri="{FF2B5EF4-FFF2-40B4-BE49-F238E27FC236}">
                <a16:creationId xmlns:a16="http://schemas.microsoft.com/office/drawing/2014/main" id="{A723E1EA-CCF2-3A7D-2003-C2D143962DBA}"/>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875" b="90625" l="10000" r="90000">
                        <a14:foregroundMark x1="43250" y1="10125" x2="42875" y2="11875"/>
                        <a14:foregroundMark x1="54625" y1="9875" x2="58375" y2="12750"/>
                        <a14:foregroundMark x1="77000" y1="22500" x2="75875" y2="26750"/>
                        <a14:foregroundMark x1="86250" y1="35500" x2="84500" y2="38250"/>
                        <a14:foregroundMark x1="86250" y1="49500" x2="86875" y2="52750"/>
                        <a14:foregroundMark x1="84875" y1="60875" x2="85625" y2="66125"/>
                        <a14:foregroundMark x1="75625" y1="75125" x2="79250" y2="76625"/>
                        <a14:foregroundMark x1="66250" y1="83750" x2="69500" y2="85000"/>
                        <a14:foregroundMark x1="49000" y1="85625" x2="48625" y2="89125"/>
                        <a14:foregroundMark x1="55875" y1="89125" x2="53250" y2="90625"/>
                        <a14:foregroundMark x1="41250" y1="89000" x2="41250" y2="89000"/>
                        <a14:foregroundMark x1="31875" y1="82875" x2="31875" y2="82875"/>
                        <a14:foregroundMark x1="20125" y1="75375" x2="20125" y2="75375"/>
                        <a14:foregroundMark x1="14750" y1="64125" x2="14750" y2="64125"/>
                        <a14:foregroundMark x1="12125" y1="47750" x2="12125" y2="47750"/>
                        <a14:foregroundMark x1="12750" y1="35875" x2="12750" y2="35875"/>
                        <a14:foregroundMark x1="23375" y1="23125" x2="23375" y2="23125"/>
                        <a14:foregroundMark x1="40125" y1="88375" x2="40125" y2="88375"/>
                        <a14:foregroundMark x1="39375" y1="89250" x2="39375" y2="89250"/>
                        <a14:foregroundMark x1="41000" y1="89125" x2="41875" y2="89750"/>
                        <a14:backgroundMark x1="60375" y1="87500" x2="60375" y2="87500"/>
                        <a14:backgroundMark x1="52250" y1="53500" x2="52250" y2="53500"/>
                        <a14:backgroundMark x1="53125" y1="86500" x2="53125" y2="86500"/>
                        <a14:backgroundMark x1="52750" y1="87000" x2="52750" y2="88000"/>
                        <a14:backgroundMark x1="45875" y1="73000" x2="45875" y2="73000"/>
                        <a14:backgroundMark x1="44500" y1="87000" x2="45375" y2="88250"/>
                      </a14:backgroundRemoval>
                    </a14:imgEffect>
                  </a14:imgLayer>
                </a14:imgProps>
              </a:ext>
            </a:extLst>
          </a:blip>
          <a:stretch>
            <a:fillRect/>
          </a:stretch>
        </p:blipFill>
        <p:spPr>
          <a:xfrm>
            <a:off x="8241579" y="-107764"/>
            <a:ext cx="3950421" cy="3950421"/>
          </a:xfrm>
          <a:prstGeom prst="rect">
            <a:avLst/>
          </a:prstGeom>
        </p:spPr>
      </p:pic>
      <p:sp>
        <p:nvSpPr>
          <p:cNvPr id="7" name="TextBox 6">
            <a:extLst>
              <a:ext uri="{FF2B5EF4-FFF2-40B4-BE49-F238E27FC236}">
                <a16:creationId xmlns:a16="http://schemas.microsoft.com/office/drawing/2014/main" id="{388A516E-EAD7-8ABD-01EB-9F85CECFB19F}"/>
              </a:ext>
            </a:extLst>
          </p:cNvPr>
          <p:cNvSpPr txBox="1"/>
          <p:nvPr/>
        </p:nvSpPr>
        <p:spPr>
          <a:xfrm>
            <a:off x="98878" y="1867446"/>
            <a:ext cx="8541890" cy="1077218"/>
          </a:xfrm>
          <a:prstGeom prst="rect">
            <a:avLst/>
          </a:prstGeom>
          <a:noFill/>
        </p:spPr>
        <p:txBody>
          <a:bodyPr wrap="none" rtlCol="0">
            <a:spAutoFit/>
          </a:bodyPr>
          <a:lstStyle/>
          <a:p>
            <a:r>
              <a:rPr lang="en-US" sz="3600" b="1" dirty="0"/>
              <a:t>Chasing the coronavirus</a:t>
            </a:r>
            <a:endParaRPr lang="en-US" sz="3600" dirty="0"/>
          </a:p>
          <a:p>
            <a:r>
              <a:rPr lang="en-US" sz="2800" dirty="0"/>
              <a:t>a global, collaborative effort to identify the next variant</a:t>
            </a:r>
          </a:p>
        </p:txBody>
      </p:sp>
      <p:pic>
        <p:nvPicPr>
          <p:cNvPr id="10" name="Picture 9">
            <a:extLst>
              <a:ext uri="{FF2B5EF4-FFF2-40B4-BE49-F238E27FC236}">
                <a16:creationId xmlns:a16="http://schemas.microsoft.com/office/drawing/2014/main" id="{AD4BCE0A-B96D-DD80-2DB3-824CE6A11969}"/>
              </a:ext>
            </a:extLst>
          </p:cNvPr>
          <p:cNvPicPr>
            <a:picLocks noChangeAspect="1"/>
          </p:cNvPicPr>
          <p:nvPr/>
        </p:nvPicPr>
        <p:blipFill>
          <a:blip r:embed="rId6"/>
          <a:stretch>
            <a:fillRect/>
          </a:stretch>
        </p:blipFill>
        <p:spPr>
          <a:xfrm>
            <a:off x="11262155" y="6412408"/>
            <a:ext cx="830967" cy="314963"/>
          </a:xfrm>
          <a:prstGeom prst="rect">
            <a:avLst/>
          </a:prstGeom>
        </p:spPr>
      </p:pic>
      <p:sp>
        <p:nvSpPr>
          <p:cNvPr id="12" name="TextBox 11">
            <a:extLst>
              <a:ext uri="{FF2B5EF4-FFF2-40B4-BE49-F238E27FC236}">
                <a16:creationId xmlns:a16="http://schemas.microsoft.com/office/drawing/2014/main" id="{92DEBF15-3C4E-8DA6-F418-1D72E077F65F}"/>
              </a:ext>
            </a:extLst>
          </p:cNvPr>
          <p:cNvSpPr txBox="1"/>
          <p:nvPr/>
        </p:nvSpPr>
        <p:spPr>
          <a:xfrm>
            <a:off x="98878" y="3429000"/>
            <a:ext cx="2871427" cy="646331"/>
          </a:xfrm>
          <a:prstGeom prst="rect">
            <a:avLst/>
          </a:prstGeom>
          <a:noFill/>
        </p:spPr>
        <p:txBody>
          <a:bodyPr wrap="none" rtlCol="0">
            <a:spAutoFit/>
          </a:bodyPr>
          <a:lstStyle/>
          <a:p>
            <a:r>
              <a:rPr lang="en-US" dirty="0"/>
              <a:t>Julius Winter</a:t>
            </a:r>
          </a:p>
          <a:p>
            <a:r>
              <a:rPr lang="en-US" dirty="0"/>
              <a:t>Clinical bioinformatics, SIB</a:t>
            </a:r>
          </a:p>
        </p:txBody>
      </p:sp>
      <p:pic>
        <p:nvPicPr>
          <p:cNvPr id="14" name="Graphic 13" descr="In the Light of Evolution">
            <a:extLst>
              <a:ext uri="{FF2B5EF4-FFF2-40B4-BE49-F238E27FC236}">
                <a16:creationId xmlns:a16="http://schemas.microsoft.com/office/drawing/2014/main" id="{174F53F9-1C47-FFE6-0327-A724C70277D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70262" y="5980594"/>
            <a:ext cx="3076167" cy="439453"/>
          </a:xfrm>
          <a:prstGeom prst="rect">
            <a:avLst/>
          </a:prstGeom>
        </p:spPr>
      </p:pic>
      <p:pic>
        <p:nvPicPr>
          <p:cNvPr id="16" name="Picture 15">
            <a:extLst>
              <a:ext uri="{FF2B5EF4-FFF2-40B4-BE49-F238E27FC236}">
                <a16:creationId xmlns:a16="http://schemas.microsoft.com/office/drawing/2014/main" id="{810A5A60-A5BE-114B-7DE6-8F8586A87CD8}"/>
              </a:ext>
            </a:extLst>
          </p:cNvPr>
          <p:cNvPicPr>
            <a:picLocks noChangeAspect="1"/>
          </p:cNvPicPr>
          <p:nvPr/>
        </p:nvPicPr>
        <p:blipFill>
          <a:blip r:embed="rId8"/>
          <a:stretch>
            <a:fillRect/>
          </a:stretch>
        </p:blipFill>
        <p:spPr>
          <a:xfrm>
            <a:off x="5850441" y="5980594"/>
            <a:ext cx="2391138" cy="531364"/>
          </a:xfrm>
          <a:prstGeom prst="rect">
            <a:avLst/>
          </a:prstGeom>
        </p:spPr>
      </p:pic>
    </p:spTree>
    <p:extLst>
      <p:ext uri="{BB962C8B-B14F-4D97-AF65-F5344CB8AC3E}">
        <p14:creationId xmlns:p14="http://schemas.microsoft.com/office/powerpoint/2010/main" val="30401970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88486C-11D1-A9CF-FC45-06849180682F}"/>
              </a:ext>
            </a:extLst>
          </p:cNvPr>
          <p:cNvSpPr txBox="1"/>
          <p:nvPr/>
        </p:nvSpPr>
        <p:spPr>
          <a:xfrm>
            <a:off x="167148" y="227441"/>
            <a:ext cx="2635401" cy="646331"/>
          </a:xfrm>
          <a:prstGeom prst="rect">
            <a:avLst/>
          </a:prstGeom>
          <a:noFill/>
        </p:spPr>
        <p:txBody>
          <a:bodyPr wrap="none" rtlCol="0">
            <a:spAutoFit/>
          </a:bodyPr>
          <a:lstStyle/>
          <a:p>
            <a:r>
              <a:rPr lang="en-US" sz="3600" dirty="0" err="1"/>
              <a:t>Wer</a:t>
            </a:r>
            <a:r>
              <a:rPr lang="en-US" sz="3600" dirty="0"/>
              <a:t> bin ich?</a:t>
            </a:r>
          </a:p>
        </p:txBody>
      </p:sp>
      <p:pic>
        <p:nvPicPr>
          <p:cNvPr id="6" name="Picture 5">
            <a:extLst>
              <a:ext uri="{FF2B5EF4-FFF2-40B4-BE49-F238E27FC236}">
                <a16:creationId xmlns:a16="http://schemas.microsoft.com/office/drawing/2014/main" id="{A736E959-1D94-E074-88E1-0AE6FDFD79D6}"/>
              </a:ext>
            </a:extLst>
          </p:cNvPr>
          <p:cNvPicPr>
            <a:picLocks noChangeAspect="1"/>
          </p:cNvPicPr>
          <p:nvPr/>
        </p:nvPicPr>
        <p:blipFill>
          <a:blip r:embed="rId2"/>
          <a:srcRect l="9963" t="6973"/>
          <a:stretch>
            <a:fillRect/>
          </a:stretch>
        </p:blipFill>
        <p:spPr>
          <a:xfrm>
            <a:off x="167148" y="1050674"/>
            <a:ext cx="3737340" cy="5148598"/>
          </a:xfrm>
          <a:prstGeom prst="rect">
            <a:avLst/>
          </a:prstGeom>
        </p:spPr>
      </p:pic>
      <p:sp>
        <p:nvSpPr>
          <p:cNvPr id="7" name="TextBox 6">
            <a:extLst>
              <a:ext uri="{FF2B5EF4-FFF2-40B4-BE49-F238E27FC236}">
                <a16:creationId xmlns:a16="http://schemas.microsoft.com/office/drawing/2014/main" id="{E0D45DA3-7CBC-65E3-135B-1607F6143C7A}"/>
              </a:ext>
            </a:extLst>
          </p:cNvPr>
          <p:cNvSpPr txBox="1"/>
          <p:nvPr/>
        </p:nvSpPr>
        <p:spPr>
          <a:xfrm>
            <a:off x="4103019" y="1050674"/>
            <a:ext cx="1992981" cy="461665"/>
          </a:xfrm>
          <a:prstGeom prst="rect">
            <a:avLst/>
          </a:prstGeom>
          <a:noFill/>
        </p:spPr>
        <p:txBody>
          <a:bodyPr wrap="none" rtlCol="0">
            <a:spAutoFit/>
          </a:bodyPr>
          <a:lstStyle/>
          <a:p>
            <a:r>
              <a:rPr lang="en-US" sz="2400" b="1" dirty="0"/>
              <a:t>Julius Winter</a:t>
            </a:r>
          </a:p>
        </p:txBody>
      </p:sp>
      <p:sp>
        <p:nvSpPr>
          <p:cNvPr id="8" name="TextBox 7">
            <a:extLst>
              <a:ext uri="{FF2B5EF4-FFF2-40B4-BE49-F238E27FC236}">
                <a16:creationId xmlns:a16="http://schemas.microsoft.com/office/drawing/2014/main" id="{3F477437-1B70-5499-FB65-B0458AEB096A}"/>
              </a:ext>
            </a:extLst>
          </p:cNvPr>
          <p:cNvSpPr txBox="1"/>
          <p:nvPr/>
        </p:nvSpPr>
        <p:spPr>
          <a:xfrm>
            <a:off x="4103019" y="1691640"/>
            <a:ext cx="6322372" cy="2031325"/>
          </a:xfrm>
          <a:prstGeom prst="rect">
            <a:avLst/>
          </a:prstGeom>
          <a:noFill/>
        </p:spPr>
        <p:txBody>
          <a:bodyPr wrap="none" rtlCol="0">
            <a:spAutoFit/>
          </a:bodyPr>
          <a:lstStyle/>
          <a:p>
            <a:r>
              <a:rPr lang="en-US" b="1" dirty="0"/>
              <a:t>Matura</a:t>
            </a:r>
            <a:r>
              <a:rPr lang="en-US" dirty="0"/>
              <a:t> 2012 – Gymnasium Leonhard (</a:t>
            </a:r>
            <a:r>
              <a:rPr lang="en-US" dirty="0" err="1"/>
              <a:t>Schwerpunkt</a:t>
            </a:r>
            <a:r>
              <a:rPr lang="en-US" dirty="0"/>
              <a:t> </a:t>
            </a:r>
            <a:r>
              <a:rPr lang="en-US" dirty="0" err="1"/>
              <a:t>Spanisch</a:t>
            </a:r>
            <a:r>
              <a:rPr lang="en-US" dirty="0"/>
              <a:t>)</a:t>
            </a:r>
          </a:p>
          <a:p>
            <a:endParaRPr lang="en-US" b="1" dirty="0"/>
          </a:p>
          <a:p>
            <a:r>
              <a:rPr lang="en-US" b="1" dirty="0"/>
              <a:t>Bachelor</a:t>
            </a:r>
            <a:r>
              <a:rPr lang="en-US" dirty="0"/>
              <a:t> </a:t>
            </a:r>
            <a:r>
              <a:rPr lang="en-US" dirty="0" err="1"/>
              <a:t>Nanowissenschaften</a:t>
            </a:r>
            <a:r>
              <a:rPr lang="en-US" dirty="0"/>
              <a:t>  	Uni Basel</a:t>
            </a:r>
          </a:p>
          <a:p>
            <a:r>
              <a:rPr lang="en-US" b="1" dirty="0"/>
              <a:t>Master</a:t>
            </a:r>
            <a:r>
              <a:rPr lang="en-US" dirty="0"/>
              <a:t> </a:t>
            </a:r>
            <a:r>
              <a:rPr lang="en-US" dirty="0" err="1"/>
              <a:t>Nanowissenschaften</a:t>
            </a:r>
            <a:r>
              <a:rPr lang="en-US" dirty="0"/>
              <a:t>  	Uni Basel</a:t>
            </a:r>
          </a:p>
          <a:p>
            <a:r>
              <a:rPr lang="en-US" b="1" dirty="0"/>
              <a:t>PhD</a:t>
            </a:r>
            <a:r>
              <a:rPr lang="en-US" dirty="0"/>
              <a:t> Bioengineering  		ETH Lausanne</a:t>
            </a:r>
          </a:p>
          <a:p>
            <a:endParaRPr lang="en-US" dirty="0"/>
          </a:p>
          <a:p>
            <a:r>
              <a:rPr lang="en-US" dirty="0"/>
              <a:t>Seit 2024 Computational Biologist </a:t>
            </a:r>
            <a:r>
              <a:rPr lang="en-US" dirty="0" err="1"/>
              <a:t>beim</a:t>
            </a:r>
            <a:r>
              <a:rPr lang="en-US" dirty="0"/>
              <a:t> SIB in Genf</a:t>
            </a:r>
          </a:p>
        </p:txBody>
      </p:sp>
    </p:spTree>
    <p:extLst>
      <p:ext uri="{BB962C8B-B14F-4D97-AF65-F5344CB8AC3E}">
        <p14:creationId xmlns:p14="http://schemas.microsoft.com/office/powerpoint/2010/main" val="3399998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18CB959-3BF6-465D-604D-F759773FE3F5}"/>
              </a:ext>
            </a:extLst>
          </p:cNvPr>
          <p:cNvPicPr>
            <a:picLocks noChangeAspect="1"/>
          </p:cNvPicPr>
          <p:nvPr/>
        </p:nvPicPr>
        <p:blipFill>
          <a:blip r:embed="rId3"/>
          <a:stretch>
            <a:fillRect/>
          </a:stretch>
        </p:blipFill>
        <p:spPr>
          <a:xfrm>
            <a:off x="290537" y="3466959"/>
            <a:ext cx="2531331" cy="2548123"/>
          </a:xfrm>
          <a:prstGeom prst="rect">
            <a:avLst/>
          </a:prstGeom>
        </p:spPr>
      </p:pic>
      <p:sp>
        <p:nvSpPr>
          <p:cNvPr id="8" name="TextBox 7">
            <a:extLst>
              <a:ext uri="{FF2B5EF4-FFF2-40B4-BE49-F238E27FC236}">
                <a16:creationId xmlns:a16="http://schemas.microsoft.com/office/drawing/2014/main" id="{E13FD6F2-DA1B-9483-6B80-1782E25C8594}"/>
              </a:ext>
            </a:extLst>
          </p:cNvPr>
          <p:cNvSpPr txBox="1"/>
          <p:nvPr/>
        </p:nvSpPr>
        <p:spPr>
          <a:xfrm>
            <a:off x="167148" y="227441"/>
            <a:ext cx="4747646" cy="646331"/>
          </a:xfrm>
          <a:prstGeom prst="rect">
            <a:avLst/>
          </a:prstGeom>
          <a:noFill/>
        </p:spPr>
        <p:txBody>
          <a:bodyPr wrap="none" rtlCol="0">
            <a:spAutoFit/>
          </a:bodyPr>
          <a:lstStyle/>
          <a:p>
            <a:r>
              <a:rPr lang="en-US" sz="3600" dirty="0"/>
              <a:t>From nose to database</a:t>
            </a:r>
          </a:p>
        </p:txBody>
      </p:sp>
      <p:pic>
        <p:nvPicPr>
          <p:cNvPr id="12" name="Picture 11" descr="7,300+ Nasal Swab Testing Stock Photos, Pictures &amp; Royalty-Free Images ...">
            <a:extLst>
              <a:ext uri="{FF2B5EF4-FFF2-40B4-BE49-F238E27FC236}">
                <a16:creationId xmlns:a16="http://schemas.microsoft.com/office/drawing/2014/main" id="{8FD33962-957A-A737-D1BB-D92945F4E7F6}"/>
              </a:ext>
            </a:extLst>
          </p:cNvPr>
          <p:cNvPicPr>
            <a:picLocks noChangeAspect="1"/>
          </p:cNvPicPr>
          <p:nvPr/>
        </p:nvPicPr>
        <p:blipFill>
          <a:blip r:embed="rId4"/>
          <a:stretch>
            <a:fillRect/>
          </a:stretch>
        </p:blipFill>
        <p:spPr>
          <a:xfrm>
            <a:off x="2873902" y="1418206"/>
            <a:ext cx="2326419" cy="1896191"/>
          </a:xfrm>
          <a:prstGeom prst="rect">
            <a:avLst/>
          </a:prstGeom>
        </p:spPr>
      </p:pic>
      <p:sp>
        <p:nvSpPr>
          <p:cNvPr id="15" name="Bent Arrow 14">
            <a:extLst>
              <a:ext uri="{FF2B5EF4-FFF2-40B4-BE49-F238E27FC236}">
                <a16:creationId xmlns:a16="http://schemas.microsoft.com/office/drawing/2014/main" id="{A83CCD1F-22BF-3BC6-7FDC-E101E5BE3812}"/>
              </a:ext>
            </a:extLst>
          </p:cNvPr>
          <p:cNvSpPr/>
          <p:nvPr/>
        </p:nvSpPr>
        <p:spPr>
          <a:xfrm rot="772225">
            <a:off x="1765284" y="2275041"/>
            <a:ext cx="963562" cy="943897"/>
          </a:xfrm>
          <a:prstGeom prst="bentArrow">
            <a:avLst>
              <a:gd name="adj1" fmla="val 25000"/>
              <a:gd name="adj2" fmla="val 25000"/>
              <a:gd name="adj3" fmla="val 32292"/>
              <a:gd name="adj4" fmla="val 69791"/>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solidFill>
                <a:schemeClr val="tx1"/>
              </a:solidFill>
            </a:endParaRPr>
          </a:p>
        </p:txBody>
      </p:sp>
      <p:pic>
        <p:nvPicPr>
          <p:cNvPr id="18" name="Picture 17" descr="Art Test Covid at Jessie Ramirez blog">
            <a:extLst>
              <a:ext uri="{FF2B5EF4-FFF2-40B4-BE49-F238E27FC236}">
                <a16:creationId xmlns:a16="http://schemas.microsoft.com/office/drawing/2014/main" id="{7017BE63-3579-0652-9A9B-1A8C9D956B19}"/>
              </a:ext>
            </a:extLst>
          </p:cNvPr>
          <p:cNvPicPr>
            <a:picLocks noChangeAspect="1"/>
          </p:cNvPicPr>
          <p:nvPr/>
        </p:nvPicPr>
        <p:blipFill>
          <a:blip r:embed="rId5"/>
          <a:stretch>
            <a:fillRect/>
          </a:stretch>
        </p:blipFill>
        <p:spPr>
          <a:xfrm>
            <a:off x="5270580" y="1418206"/>
            <a:ext cx="1775381" cy="1775381"/>
          </a:xfrm>
          <a:prstGeom prst="rect">
            <a:avLst/>
          </a:prstGeom>
        </p:spPr>
      </p:pic>
      <p:pic>
        <p:nvPicPr>
          <p:cNvPr id="20" name="Graphic 19" descr="Hospital outline">
            <a:extLst>
              <a:ext uri="{FF2B5EF4-FFF2-40B4-BE49-F238E27FC236}">
                <a16:creationId xmlns:a16="http://schemas.microsoft.com/office/drawing/2014/main" id="{E608FF3B-C5EF-7641-283E-82A322A432E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86946" y="3664414"/>
            <a:ext cx="2160772" cy="2160772"/>
          </a:xfrm>
          <a:prstGeom prst="rect">
            <a:avLst/>
          </a:prstGeom>
        </p:spPr>
      </p:pic>
      <p:sp>
        <p:nvSpPr>
          <p:cNvPr id="22" name="Bent Arrow 21">
            <a:extLst>
              <a:ext uri="{FF2B5EF4-FFF2-40B4-BE49-F238E27FC236}">
                <a16:creationId xmlns:a16="http://schemas.microsoft.com/office/drawing/2014/main" id="{DA961367-EBB5-16DA-6A25-1B17763EEE59}"/>
              </a:ext>
            </a:extLst>
          </p:cNvPr>
          <p:cNvSpPr/>
          <p:nvPr/>
        </p:nvSpPr>
        <p:spPr>
          <a:xfrm rot="11326664" flipH="1">
            <a:off x="5763818" y="3566994"/>
            <a:ext cx="963562" cy="943897"/>
          </a:xfrm>
          <a:prstGeom prst="bentArrow">
            <a:avLst>
              <a:gd name="adj1" fmla="val 25000"/>
              <a:gd name="adj2" fmla="val 25000"/>
              <a:gd name="adj3" fmla="val 32292"/>
              <a:gd name="adj4" fmla="val 69791"/>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solidFill>
                <a:schemeClr val="tx1"/>
              </a:solidFill>
            </a:endParaRPr>
          </a:p>
        </p:txBody>
      </p:sp>
      <p:sp>
        <p:nvSpPr>
          <p:cNvPr id="32" name="TextBox 31">
            <a:extLst>
              <a:ext uri="{FF2B5EF4-FFF2-40B4-BE49-F238E27FC236}">
                <a16:creationId xmlns:a16="http://schemas.microsoft.com/office/drawing/2014/main" id="{93473ECE-D9C2-4626-9C61-0CF091147A78}"/>
              </a:ext>
            </a:extLst>
          </p:cNvPr>
          <p:cNvSpPr txBox="1"/>
          <p:nvPr/>
        </p:nvSpPr>
        <p:spPr>
          <a:xfrm rot="18904999">
            <a:off x="7481799" y="1194214"/>
            <a:ext cx="3391533" cy="3350838"/>
          </a:xfrm>
          <a:prstGeom prst="rect">
            <a:avLst/>
          </a:prstGeom>
          <a:noFill/>
        </p:spPr>
        <p:txBody>
          <a:bodyPr wrap="square">
            <a:prstTxWarp prst="textArchDown">
              <a:avLst>
                <a:gd name="adj" fmla="val 2322986"/>
              </a:avLst>
            </a:prstTxWarp>
            <a:spAutoFit/>
          </a:bodyPr>
          <a:lstStyle/>
          <a:p>
            <a:r>
              <a:rPr lang="en-US" sz="2000" dirty="0" err="1">
                <a:solidFill>
                  <a:srgbClr val="0070C0"/>
                </a:solidFill>
              </a:rPr>
              <a:t>c</a:t>
            </a:r>
            <a:r>
              <a:rPr lang="en-US" sz="2000" dirty="0" err="1">
                <a:solidFill>
                  <a:srgbClr val="FF0000"/>
                </a:solidFill>
              </a:rPr>
              <a:t>tt</a:t>
            </a:r>
            <a:r>
              <a:rPr lang="en-US" sz="2000" dirty="0" err="1">
                <a:solidFill>
                  <a:srgbClr val="FFC000"/>
                </a:solidFill>
              </a:rPr>
              <a:t>g</a:t>
            </a:r>
            <a:r>
              <a:rPr lang="en-US" sz="2000" dirty="0" err="1">
                <a:solidFill>
                  <a:srgbClr val="FF0000"/>
                </a:solidFill>
              </a:rPr>
              <a:t>t</a:t>
            </a:r>
            <a:r>
              <a:rPr lang="en-US" sz="2000" dirty="0" err="1">
                <a:solidFill>
                  <a:srgbClr val="0070C0"/>
                </a:solidFill>
              </a:rPr>
              <a:t>ccc</a:t>
            </a:r>
            <a:r>
              <a:rPr lang="en-US" sz="2000" dirty="0" err="1">
                <a:solidFill>
                  <a:srgbClr val="FF0000"/>
                </a:solidFill>
              </a:rPr>
              <a:t>t</a:t>
            </a:r>
            <a:r>
              <a:rPr lang="en-US" sz="2000" dirty="0" err="1">
                <a:solidFill>
                  <a:srgbClr val="FFC000"/>
                </a:solidFill>
              </a:rPr>
              <a:t>gg</a:t>
            </a:r>
            <a:r>
              <a:rPr lang="en-US" sz="2000" dirty="0" err="1">
                <a:solidFill>
                  <a:srgbClr val="FF0000"/>
                </a:solidFill>
              </a:rPr>
              <a:t>ttt</a:t>
            </a:r>
            <a:r>
              <a:rPr lang="en-US" sz="2000" dirty="0" err="1">
                <a:solidFill>
                  <a:srgbClr val="0070C0"/>
                </a:solidFill>
              </a:rPr>
              <a:t>c</a:t>
            </a:r>
            <a:r>
              <a:rPr lang="en-US" sz="2000" dirty="0" err="1">
                <a:solidFill>
                  <a:srgbClr val="00B050"/>
                </a:solidFill>
              </a:rPr>
              <a:t>aa</a:t>
            </a:r>
            <a:r>
              <a:rPr lang="en-US" sz="2000" dirty="0" err="1">
                <a:solidFill>
                  <a:srgbClr val="0070C0"/>
                </a:solidFill>
              </a:rPr>
              <a:t>c</a:t>
            </a:r>
            <a:r>
              <a:rPr lang="en-US" sz="2000" dirty="0" err="1">
                <a:solidFill>
                  <a:srgbClr val="FFC000"/>
                </a:solidFill>
              </a:rPr>
              <a:t>g</a:t>
            </a:r>
            <a:r>
              <a:rPr lang="en-US" sz="2000" dirty="0" err="1">
                <a:solidFill>
                  <a:srgbClr val="00B050"/>
                </a:solidFill>
              </a:rPr>
              <a:t>a</a:t>
            </a:r>
            <a:r>
              <a:rPr lang="en-US" sz="2000" dirty="0" err="1">
                <a:solidFill>
                  <a:srgbClr val="FFC000"/>
                </a:solidFill>
              </a:rPr>
              <a:t>g</a:t>
            </a:r>
            <a:r>
              <a:rPr lang="en-US" sz="2000" dirty="0" err="1">
                <a:solidFill>
                  <a:srgbClr val="00B050"/>
                </a:solidFill>
              </a:rPr>
              <a:t>aaaa</a:t>
            </a:r>
            <a:r>
              <a:rPr lang="en-US" sz="2000" dirty="0" err="1">
                <a:solidFill>
                  <a:srgbClr val="0070C0"/>
                </a:solidFill>
              </a:rPr>
              <a:t>c</a:t>
            </a:r>
            <a:r>
              <a:rPr lang="en-US" sz="2000" dirty="0"/>
              <a:t>...</a:t>
            </a:r>
          </a:p>
        </p:txBody>
      </p:sp>
      <p:pic>
        <p:nvPicPr>
          <p:cNvPr id="34" name="Graphic 33" descr="Warning outline">
            <a:extLst>
              <a:ext uri="{FF2B5EF4-FFF2-40B4-BE49-F238E27FC236}">
                <a16:creationId xmlns:a16="http://schemas.microsoft.com/office/drawing/2014/main" id="{FAE92A5C-9EC5-D254-134E-127187C3A6D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56500" y="2066369"/>
            <a:ext cx="599863" cy="599863"/>
          </a:xfrm>
          <a:prstGeom prst="rect">
            <a:avLst/>
          </a:prstGeom>
        </p:spPr>
      </p:pic>
      <p:sp>
        <p:nvSpPr>
          <p:cNvPr id="35" name="TextBox 34">
            <a:extLst>
              <a:ext uri="{FF2B5EF4-FFF2-40B4-BE49-F238E27FC236}">
                <a16:creationId xmlns:a16="http://schemas.microsoft.com/office/drawing/2014/main" id="{C32DFF33-BD35-7D0B-62C7-5D46AB0D93B9}"/>
              </a:ext>
            </a:extLst>
          </p:cNvPr>
          <p:cNvSpPr txBox="1"/>
          <p:nvPr/>
        </p:nvSpPr>
        <p:spPr>
          <a:xfrm>
            <a:off x="6817580" y="5455854"/>
            <a:ext cx="1699504" cy="369332"/>
          </a:xfrm>
          <a:prstGeom prst="rect">
            <a:avLst/>
          </a:prstGeom>
          <a:noFill/>
        </p:spPr>
        <p:txBody>
          <a:bodyPr wrap="none" rtlCol="0">
            <a:spAutoFit/>
          </a:bodyPr>
          <a:lstStyle/>
          <a:p>
            <a:pPr algn="ctr"/>
            <a:r>
              <a:rPr lang="en-US" dirty="0"/>
              <a:t>sequencing lab</a:t>
            </a:r>
          </a:p>
        </p:txBody>
      </p:sp>
      <p:sp>
        <p:nvSpPr>
          <p:cNvPr id="2" name="TextBox 1">
            <a:extLst>
              <a:ext uri="{FF2B5EF4-FFF2-40B4-BE49-F238E27FC236}">
                <a16:creationId xmlns:a16="http://schemas.microsoft.com/office/drawing/2014/main" id="{6F076ECD-FECB-F295-A12E-D21DF6E8D6E0}"/>
              </a:ext>
            </a:extLst>
          </p:cNvPr>
          <p:cNvSpPr txBox="1"/>
          <p:nvPr/>
        </p:nvSpPr>
        <p:spPr>
          <a:xfrm>
            <a:off x="9344884" y="5825186"/>
            <a:ext cx="1935594" cy="830997"/>
          </a:xfrm>
          <a:prstGeom prst="rect">
            <a:avLst/>
          </a:prstGeom>
          <a:noFill/>
        </p:spPr>
        <p:txBody>
          <a:bodyPr wrap="none" rtlCol="0">
            <a:spAutoFit/>
          </a:bodyPr>
          <a:lstStyle/>
          <a:p>
            <a:r>
              <a:rPr lang="en-US" sz="2400" b="1" dirty="0">
                <a:solidFill>
                  <a:srgbClr val="FF0000"/>
                </a:solidFill>
              </a:rPr>
              <a:t>New variant!</a:t>
            </a:r>
          </a:p>
          <a:p>
            <a:r>
              <a:rPr lang="en-US" sz="2400" b="1" u="sng" dirty="0">
                <a:solidFill>
                  <a:srgbClr val="FF0000"/>
                </a:solidFill>
              </a:rPr>
              <a:t>Omicron</a:t>
            </a:r>
          </a:p>
        </p:txBody>
      </p:sp>
      <p:sp>
        <p:nvSpPr>
          <p:cNvPr id="3" name="Down Arrow 2">
            <a:extLst>
              <a:ext uri="{FF2B5EF4-FFF2-40B4-BE49-F238E27FC236}">
                <a16:creationId xmlns:a16="http://schemas.microsoft.com/office/drawing/2014/main" id="{FE2B8846-7649-F67E-A152-BD8D8B0C4B9A}"/>
              </a:ext>
            </a:extLst>
          </p:cNvPr>
          <p:cNvSpPr/>
          <p:nvPr/>
        </p:nvSpPr>
        <p:spPr>
          <a:xfrm rot="18492083">
            <a:off x="8781620" y="5307904"/>
            <a:ext cx="495153" cy="734061"/>
          </a:xfrm>
          <a:prstGeom prst="downArrow">
            <a:avLst>
              <a:gd name="adj1" fmla="val 34995"/>
              <a:gd name="adj2" fmla="val 61182"/>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72EF5FE-28D9-47D2-F746-23966AA06769}"/>
              </a:ext>
            </a:extLst>
          </p:cNvPr>
          <p:cNvCxnSpPr/>
          <p:nvPr/>
        </p:nvCxnSpPr>
        <p:spPr>
          <a:xfrm flipH="1">
            <a:off x="8132403" y="2496748"/>
            <a:ext cx="864910" cy="1454586"/>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pic>
        <p:nvPicPr>
          <p:cNvPr id="5" name="Graphic 4" descr="NIH NLM Logo">
            <a:extLst>
              <a:ext uri="{FF2B5EF4-FFF2-40B4-BE49-F238E27FC236}">
                <a16:creationId xmlns:a16="http://schemas.microsoft.com/office/drawing/2014/main" id="{2D342167-3E6E-9521-E2DD-4B9533AF8EA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913511" y="1155835"/>
            <a:ext cx="4185120" cy="497838"/>
          </a:xfrm>
          <a:prstGeom prst="rect">
            <a:avLst/>
          </a:prstGeom>
        </p:spPr>
      </p:pic>
      <p:pic>
        <p:nvPicPr>
          <p:cNvPr id="6" name="Picture 5">
            <a:extLst>
              <a:ext uri="{FF2B5EF4-FFF2-40B4-BE49-F238E27FC236}">
                <a16:creationId xmlns:a16="http://schemas.microsoft.com/office/drawing/2014/main" id="{FEF483CA-7D31-9D54-6BB9-F002233C6F01}"/>
              </a:ex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378751" y="1766338"/>
            <a:ext cx="1320800" cy="635000"/>
          </a:xfrm>
          <a:prstGeom prst="rect">
            <a:avLst/>
          </a:prstGeom>
        </p:spPr>
      </p:pic>
    </p:spTree>
    <p:extLst>
      <p:ext uri="{BB962C8B-B14F-4D97-AF65-F5344CB8AC3E}">
        <p14:creationId xmlns:p14="http://schemas.microsoft.com/office/powerpoint/2010/main" val="1913293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fade">
                                      <p:cBhvr>
                                        <p:cTn id="15" dur="500"/>
                                        <p:tgtEl>
                                          <p:spTgt spid="34"/>
                                        </p:tgtEl>
                                      </p:cBhvr>
                                    </p:animEffect>
                                  </p:childTnLst>
                                </p:cTn>
                              </p:par>
                              <p:par>
                                <p:cTn id="16" presetID="10"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5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500"/>
                                        <p:tgtEl>
                                          <p:spTgt spid="2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500"/>
                                        <p:tgtEl>
                                          <p:spTgt spid="3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500"/>
                                        <p:tgtEl>
                                          <p:spTgt spid="7"/>
                                        </p:tgtEl>
                                      </p:cBhvr>
                                    </p:animEffect>
                                  </p:childTnLst>
                                </p:cTn>
                              </p:par>
                              <p:par>
                                <p:cTn id="35" presetID="10"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500"/>
                                        <p:tgtEl>
                                          <p:spTgt spid="5"/>
                                        </p:tgtEl>
                                      </p:cBhvr>
                                    </p:animEffect>
                                  </p:childTnLst>
                                </p:cTn>
                              </p:par>
                              <p:par>
                                <p:cTn id="38" presetID="10" presetClass="entr" presetSubtype="0" fill="hold" nodeType="with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p:tgtEl>
                                          <p:spTgt spid="6"/>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
                                        </p:tgtEl>
                                        <p:attrNameLst>
                                          <p:attrName>style.visibility</p:attrName>
                                        </p:attrNameLst>
                                      </p:cBhvr>
                                      <p:to>
                                        <p:strVal val="visible"/>
                                      </p:to>
                                    </p:set>
                                    <p:animEffect transition="in" filter="fade">
                                      <p:cBhvr>
                                        <p:cTn id="45" dur="500"/>
                                        <p:tgtEl>
                                          <p:spTgt spid="3"/>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
                                        </p:tgtEl>
                                        <p:attrNameLst>
                                          <p:attrName>style.visibility</p:attrName>
                                        </p:attrNameLst>
                                      </p:cBhvr>
                                      <p:to>
                                        <p:strVal val="visible"/>
                                      </p:to>
                                    </p:set>
                                    <p:animEffect transition="in" filter="fade">
                                      <p:cBhvr>
                                        <p:cTn id="48" dur="500"/>
                                        <p:tgtEl>
                                          <p:spTgt spid="2"/>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1"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2" grpId="0" animBg="1"/>
      <p:bldP spid="32" grpId="1"/>
      <p:bldP spid="35" grpId="0"/>
      <p:bldP spid="2" grpId="0"/>
      <p:bldP spid="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764E5D5-A028-7C25-AFC4-A8A2FCDC2FD3}"/>
              </a:ext>
            </a:extLst>
          </p:cNvPr>
          <p:cNvSpPr txBox="1"/>
          <p:nvPr/>
        </p:nvSpPr>
        <p:spPr>
          <a:xfrm>
            <a:off x="167148" y="227441"/>
            <a:ext cx="8904554" cy="646331"/>
          </a:xfrm>
          <a:prstGeom prst="rect">
            <a:avLst/>
          </a:prstGeom>
          <a:noFill/>
        </p:spPr>
        <p:txBody>
          <a:bodyPr wrap="none" rtlCol="0">
            <a:spAutoFit/>
          </a:bodyPr>
          <a:lstStyle/>
          <a:p>
            <a:r>
              <a:rPr lang="en-US" sz="3600" dirty="0"/>
              <a:t>Let’s take a step back – what even is a virus?</a:t>
            </a:r>
          </a:p>
        </p:txBody>
      </p:sp>
      <p:pic>
        <p:nvPicPr>
          <p:cNvPr id="5" name="Picture 4" descr="Premium Vector | Isometric cardboard box open delivery package icon">
            <a:extLst>
              <a:ext uri="{FF2B5EF4-FFF2-40B4-BE49-F238E27FC236}">
                <a16:creationId xmlns:a16="http://schemas.microsoft.com/office/drawing/2014/main" id="{E5C2D937-E16D-882A-7458-F932C606BB2B}"/>
              </a:ext>
            </a:extLst>
          </p:cNvPr>
          <p:cNvPicPr>
            <a:picLocks noChangeAspect="1"/>
          </p:cNvPicPr>
          <p:nvPr/>
        </p:nvPicPr>
        <p:blipFill>
          <a:blip r:embed="rId2"/>
          <a:stretch>
            <a:fillRect/>
          </a:stretch>
        </p:blipFill>
        <p:spPr>
          <a:xfrm>
            <a:off x="317498" y="2682421"/>
            <a:ext cx="5245100" cy="3670300"/>
          </a:xfrm>
          <a:prstGeom prst="rect">
            <a:avLst/>
          </a:prstGeom>
        </p:spPr>
      </p:pic>
      <p:pic>
        <p:nvPicPr>
          <p:cNvPr id="4" name="Picture 3" descr="Premium Vector | Hand drawn house blueprint illustration">
            <a:extLst>
              <a:ext uri="{FF2B5EF4-FFF2-40B4-BE49-F238E27FC236}">
                <a16:creationId xmlns:a16="http://schemas.microsoft.com/office/drawing/2014/main" id="{C3288451-465C-A4F4-6EE5-9B6FBD9FAA69}"/>
              </a:ext>
            </a:extLst>
          </p:cNvPr>
          <p:cNvPicPr>
            <a:picLocks noChangeAspect="1"/>
          </p:cNvPicPr>
          <p:nvPr/>
        </p:nvPicPr>
        <p:blipFill>
          <a:blip r:embed="rId3"/>
          <a:stretch>
            <a:fillRect/>
          </a:stretch>
        </p:blipFill>
        <p:spPr>
          <a:xfrm rot="1272792">
            <a:off x="2172114" y="3989121"/>
            <a:ext cx="1274610" cy="1274610"/>
          </a:xfrm>
          <a:prstGeom prst="rect">
            <a:avLst/>
          </a:prstGeom>
          <a:effectLst/>
        </p:spPr>
      </p:pic>
      <p:sp>
        <p:nvSpPr>
          <p:cNvPr id="6" name="TextBox 5">
            <a:extLst>
              <a:ext uri="{FF2B5EF4-FFF2-40B4-BE49-F238E27FC236}">
                <a16:creationId xmlns:a16="http://schemas.microsoft.com/office/drawing/2014/main" id="{1DB0AB8A-1625-1390-D104-375ED2FF77FE}"/>
              </a:ext>
            </a:extLst>
          </p:cNvPr>
          <p:cNvSpPr txBox="1"/>
          <p:nvPr/>
        </p:nvSpPr>
        <p:spPr>
          <a:xfrm>
            <a:off x="167147" y="1199451"/>
            <a:ext cx="7224253" cy="923330"/>
          </a:xfrm>
          <a:prstGeom prst="rect">
            <a:avLst/>
          </a:prstGeom>
          <a:noFill/>
        </p:spPr>
        <p:txBody>
          <a:bodyPr wrap="square" rtlCol="0">
            <a:spAutoFit/>
          </a:bodyPr>
          <a:lstStyle/>
          <a:p>
            <a:pPr marL="285750" indent="-285750">
              <a:buFont typeface="Arial" panose="020B0604020202020204" pitchFamily="34" charset="0"/>
              <a:buChar char="•"/>
            </a:pPr>
            <a:r>
              <a:rPr lang="en-US" b="1" dirty="0">
                <a:solidFill>
                  <a:schemeClr val="tx2">
                    <a:lumMod val="75000"/>
                    <a:lumOff val="25000"/>
                  </a:schemeClr>
                </a:solidFill>
              </a:rPr>
              <a:t>building instructions </a:t>
            </a:r>
            <a:r>
              <a:rPr lang="en-US" dirty="0"/>
              <a:t>→</a:t>
            </a:r>
            <a:r>
              <a:rPr lang="en-US" b="1" dirty="0">
                <a:solidFill>
                  <a:schemeClr val="tx2">
                    <a:lumMod val="75000"/>
                    <a:lumOff val="25000"/>
                  </a:schemeClr>
                </a:solidFill>
              </a:rPr>
              <a:t> </a:t>
            </a:r>
            <a:r>
              <a:rPr lang="en-US" dirty="0"/>
              <a:t>genetic material (DNA or RNA)</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solidFill>
                  <a:srgbClr val="AB7942"/>
                </a:solidFill>
              </a:rPr>
              <a:t>protective box, address label, etc. </a:t>
            </a:r>
            <a:r>
              <a:rPr lang="en-US" dirty="0"/>
              <a:t>→ protein shell, surface proteins</a:t>
            </a:r>
          </a:p>
        </p:txBody>
      </p:sp>
      <p:pic>
        <p:nvPicPr>
          <p:cNvPr id="3" name="Picture 2" descr="Diagram&#10;&#10;Description automatically generated">
            <a:extLst>
              <a:ext uri="{FF2B5EF4-FFF2-40B4-BE49-F238E27FC236}">
                <a16:creationId xmlns:a16="http://schemas.microsoft.com/office/drawing/2014/main" id="{47465CBD-DDD7-AF12-66AA-FD2B177B14D9}"/>
              </a:ext>
            </a:extLst>
          </p:cNvPr>
          <p:cNvPicPr>
            <a:picLocks noChangeAspect="1"/>
          </p:cNvPicPr>
          <p:nvPr/>
        </p:nvPicPr>
        <p:blipFill>
          <a:blip r:embed="rId4">
            <a:extLst>
              <a:ext uri="{28A0092B-C50C-407E-A947-70E740481C1C}">
                <a14:useLocalDpi xmlns:a14="http://schemas.microsoft.com/office/drawing/2010/main" val="0"/>
              </a:ext>
            </a:extLst>
          </a:blip>
          <a:srcRect t="8964"/>
          <a:stretch>
            <a:fillRect/>
          </a:stretch>
        </p:blipFill>
        <p:spPr>
          <a:xfrm>
            <a:off x="6064986" y="2875338"/>
            <a:ext cx="6013431" cy="2945214"/>
          </a:xfrm>
          <a:prstGeom prst="rect">
            <a:avLst/>
          </a:prstGeom>
        </p:spPr>
      </p:pic>
    </p:spTree>
    <p:extLst>
      <p:ext uri="{BB962C8B-B14F-4D97-AF65-F5344CB8AC3E}">
        <p14:creationId xmlns:p14="http://schemas.microsoft.com/office/powerpoint/2010/main" val="23746597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778625E-02D8-6F62-7F5A-19F8F95ED29B}"/>
              </a:ext>
            </a:extLst>
          </p:cNvPr>
          <p:cNvSpPr txBox="1"/>
          <p:nvPr/>
        </p:nvSpPr>
        <p:spPr>
          <a:xfrm>
            <a:off x="167148" y="227441"/>
            <a:ext cx="6874574" cy="646331"/>
          </a:xfrm>
          <a:prstGeom prst="rect">
            <a:avLst/>
          </a:prstGeom>
          <a:noFill/>
        </p:spPr>
        <p:txBody>
          <a:bodyPr wrap="none" rtlCol="0">
            <a:spAutoFit/>
          </a:bodyPr>
          <a:lstStyle/>
          <a:p>
            <a:r>
              <a:rPr lang="en-US" sz="3600" dirty="0"/>
              <a:t>They come in all shapes and sizes</a:t>
            </a:r>
          </a:p>
        </p:txBody>
      </p:sp>
      <p:sp>
        <p:nvSpPr>
          <p:cNvPr id="4" name="Rectangle 3">
            <a:extLst>
              <a:ext uri="{FF2B5EF4-FFF2-40B4-BE49-F238E27FC236}">
                <a16:creationId xmlns:a16="http://schemas.microsoft.com/office/drawing/2014/main" id="{3E638328-FDD5-0A19-40A9-156434791E46}"/>
              </a:ext>
            </a:extLst>
          </p:cNvPr>
          <p:cNvSpPr/>
          <p:nvPr/>
        </p:nvSpPr>
        <p:spPr>
          <a:xfrm>
            <a:off x="4417720" y="6382022"/>
            <a:ext cx="3356560" cy="369332"/>
          </a:xfrm>
          <a:prstGeom prst="rect">
            <a:avLst/>
          </a:prstGeom>
        </p:spPr>
        <p:txBody>
          <a:bodyPr wrap="none">
            <a:spAutoFit/>
          </a:bodyPr>
          <a:lstStyle/>
          <a:p>
            <a:r>
              <a:rPr lang="en-US" dirty="0">
                <a:solidFill>
                  <a:srgbClr val="0070C0"/>
                </a:solidFill>
                <a:hlinkClick r:id="rId2"/>
              </a:rPr>
              <a:t>https://viralzone.expasy.org/5216</a:t>
            </a:r>
            <a:endParaRPr lang="en-US" dirty="0">
              <a:solidFill>
                <a:srgbClr val="0070C0"/>
              </a:solidFill>
            </a:endParaRPr>
          </a:p>
        </p:txBody>
      </p:sp>
      <p:pic>
        <p:nvPicPr>
          <p:cNvPr id="7" name="Picture 6">
            <a:extLst>
              <a:ext uri="{FF2B5EF4-FFF2-40B4-BE49-F238E27FC236}">
                <a16:creationId xmlns:a16="http://schemas.microsoft.com/office/drawing/2014/main" id="{AA17731A-5A35-EB17-A515-B1EEAA9CF88C}"/>
              </a:ext>
            </a:extLst>
          </p:cNvPr>
          <p:cNvPicPr>
            <a:picLocks noChangeAspect="1"/>
          </p:cNvPicPr>
          <p:nvPr/>
        </p:nvPicPr>
        <p:blipFill>
          <a:blip r:embed="rId3"/>
          <a:stretch>
            <a:fillRect/>
          </a:stretch>
        </p:blipFill>
        <p:spPr>
          <a:xfrm>
            <a:off x="1505574" y="1011834"/>
            <a:ext cx="9180852" cy="5370188"/>
          </a:xfrm>
          <a:prstGeom prst="rect">
            <a:avLst/>
          </a:prstGeom>
        </p:spPr>
      </p:pic>
      <p:sp>
        <p:nvSpPr>
          <p:cNvPr id="8" name="TextBox 7">
            <a:extLst>
              <a:ext uri="{FF2B5EF4-FFF2-40B4-BE49-F238E27FC236}">
                <a16:creationId xmlns:a16="http://schemas.microsoft.com/office/drawing/2014/main" id="{79D84FA5-34F6-F05B-614F-5C83686064AE}"/>
              </a:ext>
            </a:extLst>
          </p:cNvPr>
          <p:cNvSpPr txBox="1"/>
          <p:nvPr/>
        </p:nvSpPr>
        <p:spPr>
          <a:xfrm>
            <a:off x="263967" y="1313048"/>
            <a:ext cx="1457257" cy="646331"/>
          </a:xfrm>
          <a:prstGeom prst="rect">
            <a:avLst/>
          </a:prstGeom>
          <a:noFill/>
        </p:spPr>
        <p:txBody>
          <a:bodyPr wrap="square" rtlCol="0">
            <a:spAutoFit/>
          </a:bodyPr>
          <a:lstStyle/>
          <a:p>
            <a:r>
              <a:rPr lang="en-US" sz="1200" dirty="0"/>
              <a:t>Eradicated since 1980 thanks to the variola vaccine*</a:t>
            </a:r>
          </a:p>
        </p:txBody>
      </p:sp>
      <p:cxnSp>
        <p:nvCxnSpPr>
          <p:cNvPr id="10" name="Curved Connector 9">
            <a:extLst>
              <a:ext uri="{FF2B5EF4-FFF2-40B4-BE49-F238E27FC236}">
                <a16:creationId xmlns:a16="http://schemas.microsoft.com/office/drawing/2014/main" id="{2B7BD267-D8D8-A617-A8F8-71DCDC8BFA13}"/>
              </a:ext>
            </a:extLst>
          </p:cNvPr>
          <p:cNvCxnSpPr>
            <a:cxnSpLocks/>
            <a:stCxn id="8" idx="2"/>
          </p:cNvCxnSpPr>
          <p:nvPr/>
        </p:nvCxnSpPr>
        <p:spPr>
          <a:xfrm rot="16200000" flipH="1">
            <a:off x="1029447" y="1922528"/>
            <a:ext cx="439278" cy="51298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13" name="TextBox 12">
            <a:extLst>
              <a:ext uri="{FF2B5EF4-FFF2-40B4-BE49-F238E27FC236}">
                <a16:creationId xmlns:a16="http://schemas.microsoft.com/office/drawing/2014/main" id="{3C0C1BE4-A02C-456D-AE7B-D95E08B4E048}"/>
              </a:ext>
            </a:extLst>
          </p:cNvPr>
          <p:cNvSpPr txBox="1"/>
          <p:nvPr/>
        </p:nvSpPr>
        <p:spPr>
          <a:xfrm>
            <a:off x="64840" y="6560125"/>
            <a:ext cx="4119885" cy="246221"/>
          </a:xfrm>
          <a:prstGeom prst="rect">
            <a:avLst/>
          </a:prstGeom>
          <a:noFill/>
        </p:spPr>
        <p:txBody>
          <a:bodyPr wrap="square">
            <a:spAutoFit/>
          </a:bodyPr>
          <a:lstStyle/>
          <a:p>
            <a:r>
              <a:rPr lang="en-US" sz="1000" dirty="0"/>
              <a:t>*https://</a:t>
            </a:r>
            <a:r>
              <a:rPr lang="en-US" sz="1000" dirty="0" err="1"/>
              <a:t>iris.who.int</a:t>
            </a:r>
            <a:r>
              <a:rPr lang="en-US" sz="1000" dirty="0"/>
              <a:t>/items/ba4ab312-1c43-4304-8235-969979499717</a:t>
            </a:r>
          </a:p>
        </p:txBody>
      </p:sp>
    </p:spTree>
    <p:extLst>
      <p:ext uri="{BB962C8B-B14F-4D97-AF65-F5344CB8AC3E}">
        <p14:creationId xmlns:p14="http://schemas.microsoft.com/office/powerpoint/2010/main" val="484910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129490-2896-81E2-C861-9DACDC6D69DB}"/>
              </a:ext>
            </a:extLst>
          </p:cNvPr>
          <p:cNvSpPr txBox="1"/>
          <p:nvPr/>
        </p:nvSpPr>
        <p:spPr>
          <a:xfrm>
            <a:off x="167148" y="227441"/>
            <a:ext cx="6471323" cy="646331"/>
          </a:xfrm>
          <a:prstGeom prst="rect">
            <a:avLst/>
          </a:prstGeom>
          <a:noFill/>
        </p:spPr>
        <p:txBody>
          <a:bodyPr wrap="none" rtlCol="0">
            <a:spAutoFit/>
          </a:bodyPr>
          <a:lstStyle/>
          <a:p>
            <a:r>
              <a:rPr lang="en-US" sz="3600" dirty="0"/>
              <a:t>What makes a virus dangerous?</a:t>
            </a:r>
          </a:p>
        </p:txBody>
      </p:sp>
      <p:pic>
        <p:nvPicPr>
          <p:cNvPr id="3" name="Picture 2" descr="Eukaryotic Animal Cell Structure A Visual Guide Hubpages">
            <a:extLst>
              <a:ext uri="{FF2B5EF4-FFF2-40B4-BE49-F238E27FC236}">
                <a16:creationId xmlns:a16="http://schemas.microsoft.com/office/drawing/2014/main" id="{2C09046B-AE75-B37C-AE9C-04D60CC3F3BA}"/>
              </a:ext>
            </a:extLst>
          </p:cNvPr>
          <p:cNvPicPr>
            <a:picLocks noChangeAspect="1"/>
          </p:cNvPicPr>
          <p:nvPr/>
        </p:nvPicPr>
        <p:blipFill>
          <a:blip r:embed="rId3"/>
          <a:stretch>
            <a:fillRect/>
          </a:stretch>
        </p:blipFill>
        <p:spPr>
          <a:xfrm>
            <a:off x="1533832" y="1790700"/>
            <a:ext cx="3884590" cy="3884590"/>
          </a:xfrm>
          <a:prstGeom prst="rect">
            <a:avLst/>
          </a:prstGeom>
        </p:spPr>
      </p:pic>
      <p:sp>
        <p:nvSpPr>
          <p:cNvPr id="4" name="TextBox 3">
            <a:extLst>
              <a:ext uri="{FF2B5EF4-FFF2-40B4-BE49-F238E27FC236}">
                <a16:creationId xmlns:a16="http://schemas.microsoft.com/office/drawing/2014/main" id="{4154F07A-42FE-16A8-A011-02A885512780}"/>
              </a:ext>
            </a:extLst>
          </p:cNvPr>
          <p:cNvSpPr txBox="1"/>
          <p:nvPr/>
        </p:nvSpPr>
        <p:spPr>
          <a:xfrm>
            <a:off x="8186569" y="227441"/>
            <a:ext cx="3838283" cy="923330"/>
          </a:xfrm>
          <a:prstGeom prst="rect">
            <a:avLst/>
          </a:prstGeom>
          <a:noFill/>
        </p:spPr>
        <p:txBody>
          <a:bodyPr wrap="square" rtlCol="0">
            <a:spAutoFit/>
          </a:bodyPr>
          <a:lstStyle/>
          <a:p>
            <a:pPr algn="r"/>
            <a:r>
              <a:rPr lang="en-US" dirty="0"/>
              <a:t>Only about ~200 virus types lead to infectious diseases in humans </a:t>
            </a:r>
            <a:r>
              <a:rPr lang="en-US" dirty="0">
                <a:hlinkClick r:id="rId4"/>
              </a:rPr>
              <a:t>https://viralzone.expasy.org/678</a:t>
            </a:r>
            <a:endParaRPr lang="en-US" dirty="0"/>
          </a:p>
        </p:txBody>
      </p:sp>
      <p:sp>
        <p:nvSpPr>
          <p:cNvPr id="5" name="TextBox 4">
            <a:extLst>
              <a:ext uri="{FF2B5EF4-FFF2-40B4-BE49-F238E27FC236}">
                <a16:creationId xmlns:a16="http://schemas.microsoft.com/office/drawing/2014/main" id="{E3C56276-DA51-EC11-7C1F-6A5CF7983691}"/>
              </a:ext>
            </a:extLst>
          </p:cNvPr>
          <p:cNvSpPr txBox="1"/>
          <p:nvPr/>
        </p:nvSpPr>
        <p:spPr>
          <a:xfrm>
            <a:off x="2830757" y="5730425"/>
            <a:ext cx="1290739" cy="369332"/>
          </a:xfrm>
          <a:prstGeom prst="rect">
            <a:avLst/>
          </a:prstGeom>
          <a:noFill/>
        </p:spPr>
        <p:txBody>
          <a:bodyPr wrap="none" rtlCol="0">
            <a:spAutoFit/>
          </a:bodyPr>
          <a:lstStyle/>
          <a:p>
            <a:pPr algn="ctr"/>
            <a:r>
              <a:rPr lang="en-US" dirty="0"/>
              <a:t>Animal cell</a:t>
            </a:r>
          </a:p>
        </p:txBody>
      </p:sp>
      <p:pic>
        <p:nvPicPr>
          <p:cNvPr id="6" name="Picture 5" descr="Virus Diagram Unlabeled">
            <a:extLst>
              <a:ext uri="{FF2B5EF4-FFF2-40B4-BE49-F238E27FC236}">
                <a16:creationId xmlns:a16="http://schemas.microsoft.com/office/drawing/2014/main" id="{194C9D94-3889-AFF4-B8FD-FABD6BA802D0}"/>
              </a:ext>
            </a:extLst>
          </p:cNvPr>
          <p:cNvPicPr>
            <a:picLocks noChangeAspect="1"/>
          </p:cNvPicPr>
          <p:nvPr/>
        </p:nvPicPr>
        <p:blipFill>
          <a:blip r:embed="rId5"/>
          <a:stretch>
            <a:fillRect/>
          </a:stretch>
        </p:blipFill>
        <p:spPr>
          <a:xfrm>
            <a:off x="5938685" y="1666186"/>
            <a:ext cx="4009104" cy="4009104"/>
          </a:xfrm>
          <a:prstGeom prst="rect">
            <a:avLst/>
          </a:prstGeom>
        </p:spPr>
      </p:pic>
      <p:sp>
        <p:nvSpPr>
          <p:cNvPr id="7" name="TextBox 6">
            <a:extLst>
              <a:ext uri="{FF2B5EF4-FFF2-40B4-BE49-F238E27FC236}">
                <a16:creationId xmlns:a16="http://schemas.microsoft.com/office/drawing/2014/main" id="{7ED84436-610E-2A37-82B9-7C20EBCC70EB}"/>
              </a:ext>
            </a:extLst>
          </p:cNvPr>
          <p:cNvSpPr txBox="1"/>
          <p:nvPr/>
        </p:nvSpPr>
        <p:spPr>
          <a:xfrm>
            <a:off x="7192871" y="5730425"/>
            <a:ext cx="1500732" cy="369332"/>
          </a:xfrm>
          <a:prstGeom prst="rect">
            <a:avLst/>
          </a:prstGeom>
          <a:noFill/>
        </p:spPr>
        <p:txBody>
          <a:bodyPr wrap="none" rtlCol="0">
            <a:spAutoFit/>
          </a:bodyPr>
          <a:lstStyle/>
          <a:p>
            <a:pPr algn="ctr"/>
            <a:r>
              <a:rPr lang="en-US" dirty="0"/>
              <a:t>Virus particle</a:t>
            </a:r>
          </a:p>
        </p:txBody>
      </p:sp>
      <p:sp>
        <p:nvSpPr>
          <p:cNvPr id="9" name="TextBox 8">
            <a:extLst>
              <a:ext uri="{FF2B5EF4-FFF2-40B4-BE49-F238E27FC236}">
                <a16:creationId xmlns:a16="http://schemas.microsoft.com/office/drawing/2014/main" id="{9CB2DE49-9868-D3B1-C820-E0070A08FA41}"/>
              </a:ext>
            </a:extLst>
          </p:cNvPr>
          <p:cNvSpPr txBox="1"/>
          <p:nvPr/>
        </p:nvSpPr>
        <p:spPr>
          <a:xfrm>
            <a:off x="4846057" y="1886393"/>
            <a:ext cx="1792414" cy="369332"/>
          </a:xfrm>
          <a:prstGeom prst="rect">
            <a:avLst/>
          </a:prstGeom>
          <a:noFill/>
        </p:spPr>
        <p:txBody>
          <a:bodyPr wrap="none" rtlCol="0">
            <a:spAutoFit/>
          </a:bodyPr>
          <a:lstStyle/>
          <a:p>
            <a:pPr algn="ctr"/>
            <a:r>
              <a:rPr lang="en-US" dirty="0"/>
              <a:t>genetic material</a:t>
            </a:r>
          </a:p>
        </p:txBody>
      </p:sp>
      <p:cxnSp>
        <p:nvCxnSpPr>
          <p:cNvPr id="11" name="Straight Arrow Connector 10">
            <a:extLst>
              <a:ext uri="{FF2B5EF4-FFF2-40B4-BE49-F238E27FC236}">
                <a16:creationId xmlns:a16="http://schemas.microsoft.com/office/drawing/2014/main" id="{E7EAC043-182A-25D6-1933-59FFA883607C}"/>
              </a:ext>
            </a:extLst>
          </p:cNvPr>
          <p:cNvCxnSpPr/>
          <p:nvPr/>
        </p:nvCxnSpPr>
        <p:spPr>
          <a:xfrm flipH="1">
            <a:off x="3476126" y="2360428"/>
            <a:ext cx="1744460" cy="18819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2" name="Straight Arrow Connector 11">
            <a:extLst>
              <a:ext uri="{FF2B5EF4-FFF2-40B4-BE49-F238E27FC236}">
                <a16:creationId xmlns:a16="http://schemas.microsoft.com/office/drawing/2014/main" id="{7E87F296-D279-A7B2-E116-50067411FF1F}"/>
              </a:ext>
            </a:extLst>
          </p:cNvPr>
          <p:cNvCxnSpPr>
            <a:cxnSpLocks/>
          </p:cNvCxnSpPr>
          <p:nvPr/>
        </p:nvCxnSpPr>
        <p:spPr>
          <a:xfrm>
            <a:off x="6096000" y="2351418"/>
            <a:ext cx="1718930" cy="131932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5" name="TextBox 14">
            <a:extLst>
              <a:ext uri="{FF2B5EF4-FFF2-40B4-BE49-F238E27FC236}">
                <a16:creationId xmlns:a16="http://schemas.microsoft.com/office/drawing/2014/main" id="{B3B3A4FE-24FC-C66B-00D0-B9324CEFAF33}"/>
              </a:ext>
            </a:extLst>
          </p:cNvPr>
          <p:cNvSpPr txBox="1"/>
          <p:nvPr/>
        </p:nvSpPr>
        <p:spPr>
          <a:xfrm>
            <a:off x="4882799" y="4434640"/>
            <a:ext cx="1718930" cy="1200329"/>
          </a:xfrm>
          <a:prstGeom prst="rect">
            <a:avLst/>
          </a:prstGeom>
          <a:noFill/>
        </p:spPr>
        <p:txBody>
          <a:bodyPr wrap="square" rtlCol="0">
            <a:spAutoFit/>
          </a:bodyPr>
          <a:lstStyle/>
          <a:p>
            <a:pPr algn="ctr"/>
            <a:r>
              <a:rPr lang="en-US" dirty="0"/>
              <a:t>organelles allowing the cell to grow and replicate</a:t>
            </a:r>
          </a:p>
        </p:txBody>
      </p:sp>
      <p:cxnSp>
        <p:nvCxnSpPr>
          <p:cNvPr id="16" name="Straight Arrow Connector 15">
            <a:extLst>
              <a:ext uri="{FF2B5EF4-FFF2-40B4-BE49-F238E27FC236}">
                <a16:creationId xmlns:a16="http://schemas.microsoft.com/office/drawing/2014/main" id="{A8F48479-DDA7-8766-0626-5880794525C6}"/>
              </a:ext>
            </a:extLst>
          </p:cNvPr>
          <p:cNvCxnSpPr>
            <a:cxnSpLocks/>
          </p:cNvCxnSpPr>
          <p:nvPr/>
        </p:nvCxnSpPr>
        <p:spPr>
          <a:xfrm flipH="1" flipV="1">
            <a:off x="3584566" y="3268346"/>
            <a:ext cx="1403232" cy="189097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8BD7D7AB-5A05-CB57-85A4-DA4A92E59B7A}"/>
              </a:ext>
            </a:extLst>
          </p:cNvPr>
          <p:cNvCxnSpPr>
            <a:cxnSpLocks/>
          </p:cNvCxnSpPr>
          <p:nvPr/>
        </p:nvCxnSpPr>
        <p:spPr>
          <a:xfrm flipV="1">
            <a:off x="6443330" y="4242391"/>
            <a:ext cx="1025826" cy="80080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2" name="Multiply 21">
            <a:extLst>
              <a:ext uri="{FF2B5EF4-FFF2-40B4-BE49-F238E27FC236}">
                <a16:creationId xmlns:a16="http://schemas.microsoft.com/office/drawing/2014/main" id="{27F39EF2-C876-A1B7-88D3-60612A14ADEF}"/>
              </a:ext>
            </a:extLst>
          </p:cNvPr>
          <p:cNvSpPr/>
          <p:nvPr/>
        </p:nvSpPr>
        <p:spPr>
          <a:xfrm>
            <a:off x="6579392" y="4266986"/>
            <a:ext cx="751616" cy="751616"/>
          </a:xfrm>
          <a:prstGeom prst="mathMultiply">
            <a:avLst>
              <a:gd name="adj1" fmla="val 11421"/>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72244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childTnLst>
                                </p:cTn>
                              </p:par>
                              <p:par>
                                <p:cTn id="22" presetID="10" presetClass="entr" presetSubtype="0" fill="hold"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500"/>
                                        <p:tgtEl>
                                          <p:spTgt spid="1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5" grpId="0"/>
      <p:bldP spid="2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0BFE4-8E36-CEB3-18C2-F497BF6AF14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DABCAB7-0EB8-7835-7F54-9DB53D578D51}"/>
              </a:ext>
            </a:extLst>
          </p:cNvPr>
          <p:cNvSpPr txBox="1"/>
          <p:nvPr/>
        </p:nvSpPr>
        <p:spPr>
          <a:xfrm>
            <a:off x="167148" y="227441"/>
            <a:ext cx="6471323" cy="646331"/>
          </a:xfrm>
          <a:prstGeom prst="rect">
            <a:avLst/>
          </a:prstGeom>
          <a:noFill/>
        </p:spPr>
        <p:txBody>
          <a:bodyPr wrap="none" rtlCol="0">
            <a:spAutoFit/>
          </a:bodyPr>
          <a:lstStyle/>
          <a:p>
            <a:r>
              <a:rPr lang="en-US" sz="3600" dirty="0"/>
              <a:t>What makes a virus dangerous?</a:t>
            </a:r>
          </a:p>
        </p:txBody>
      </p:sp>
      <p:pic>
        <p:nvPicPr>
          <p:cNvPr id="3" name="Picture 2" descr="Eukaryotic Animal Cell Structure A Visual Guide Hubpages">
            <a:extLst>
              <a:ext uri="{FF2B5EF4-FFF2-40B4-BE49-F238E27FC236}">
                <a16:creationId xmlns:a16="http://schemas.microsoft.com/office/drawing/2014/main" id="{9F6FC91F-2908-2893-3816-E88470814C39}"/>
              </a:ext>
            </a:extLst>
          </p:cNvPr>
          <p:cNvPicPr>
            <a:picLocks noChangeAspect="1"/>
          </p:cNvPicPr>
          <p:nvPr/>
        </p:nvPicPr>
        <p:blipFill>
          <a:blip r:embed="rId3"/>
          <a:stretch>
            <a:fillRect/>
          </a:stretch>
        </p:blipFill>
        <p:spPr>
          <a:xfrm>
            <a:off x="1533832" y="1790700"/>
            <a:ext cx="3884590" cy="3884590"/>
          </a:xfrm>
          <a:prstGeom prst="rect">
            <a:avLst/>
          </a:prstGeom>
        </p:spPr>
      </p:pic>
      <p:sp>
        <p:nvSpPr>
          <p:cNvPr id="4" name="TextBox 3">
            <a:extLst>
              <a:ext uri="{FF2B5EF4-FFF2-40B4-BE49-F238E27FC236}">
                <a16:creationId xmlns:a16="http://schemas.microsoft.com/office/drawing/2014/main" id="{3F3E2E7D-DA2A-8471-212E-56EE51445E8F}"/>
              </a:ext>
            </a:extLst>
          </p:cNvPr>
          <p:cNvSpPr txBox="1"/>
          <p:nvPr/>
        </p:nvSpPr>
        <p:spPr>
          <a:xfrm>
            <a:off x="8186569" y="227441"/>
            <a:ext cx="3838283" cy="923330"/>
          </a:xfrm>
          <a:prstGeom prst="rect">
            <a:avLst/>
          </a:prstGeom>
          <a:noFill/>
        </p:spPr>
        <p:txBody>
          <a:bodyPr wrap="square" rtlCol="0">
            <a:spAutoFit/>
          </a:bodyPr>
          <a:lstStyle/>
          <a:p>
            <a:pPr algn="r"/>
            <a:r>
              <a:rPr lang="en-US" dirty="0"/>
              <a:t>Only about ~200 virus types lead to infectious diseases in humans </a:t>
            </a:r>
            <a:r>
              <a:rPr lang="en-US" dirty="0">
                <a:hlinkClick r:id="rId4"/>
              </a:rPr>
              <a:t>https://viralzone.expasy.org/678</a:t>
            </a:r>
            <a:endParaRPr lang="en-US" dirty="0"/>
          </a:p>
        </p:txBody>
      </p:sp>
      <p:sp>
        <p:nvSpPr>
          <p:cNvPr id="5" name="TextBox 4">
            <a:extLst>
              <a:ext uri="{FF2B5EF4-FFF2-40B4-BE49-F238E27FC236}">
                <a16:creationId xmlns:a16="http://schemas.microsoft.com/office/drawing/2014/main" id="{38035B03-20AB-DD93-C01C-5B0693FC70BE}"/>
              </a:ext>
            </a:extLst>
          </p:cNvPr>
          <p:cNvSpPr txBox="1"/>
          <p:nvPr/>
        </p:nvSpPr>
        <p:spPr>
          <a:xfrm>
            <a:off x="2807518" y="5730425"/>
            <a:ext cx="1337226" cy="369332"/>
          </a:xfrm>
          <a:prstGeom prst="rect">
            <a:avLst/>
          </a:prstGeom>
          <a:noFill/>
        </p:spPr>
        <p:txBody>
          <a:bodyPr wrap="none" rtlCol="0">
            <a:spAutoFit/>
          </a:bodyPr>
          <a:lstStyle/>
          <a:p>
            <a:pPr algn="ctr"/>
            <a:r>
              <a:rPr lang="en-US" dirty="0"/>
              <a:t>Animal cell</a:t>
            </a:r>
          </a:p>
        </p:txBody>
      </p:sp>
      <p:sp>
        <p:nvSpPr>
          <p:cNvPr id="7" name="TextBox 6">
            <a:extLst>
              <a:ext uri="{FF2B5EF4-FFF2-40B4-BE49-F238E27FC236}">
                <a16:creationId xmlns:a16="http://schemas.microsoft.com/office/drawing/2014/main" id="{E049614A-5E62-4C76-B11D-E683854AE391}"/>
              </a:ext>
            </a:extLst>
          </p:cNvPr>
          <p:cNvSpPr txBox="1"/>
          <p:nvPr/>
        </p:nvSpPr>
        <p:spPr>
          <a:xfrm>
            <a:off x="7169629" y="5730425"/>
            <a:ext cx="1547218" cy="369332"/>
          </a:xfrm>
          <a:prstGeom prst="rect">
            <a:avLst/>
          </a:prstGeom>
          <a:noFill/>
        </p:spPr>
        <p:txBody>
          <a:bodyPr wrap="none" rtlCol="0">
            <a:spAutoFit/>
          </a:bodyPr>
          <a:lstStyle/>
          <a:p>
            <a:pPr algn="ctr"/>
            <a:r>
              <a:rPr lang="en-US" dirty="0"/>
              <a:t>Virus particle</a:t>
            </a:r>
          </a:p>
        </p:txBody>
      </p:sp>
      <p:pic>
        <p:nvPicPr>
          <p:cNvPr id="8" name="Picture 7" descr="Virus Diagram Unlabeled">
            <a:extLst>
              <a:ext uri="{FF2B5EF4-FFF2-40B4-BE49-F238E27FC236}">
                <a16:creationId xmlns:a16="http://schemas.microsoft.com/office/drawing/2014/main" id="{3E07DA4E-759E-46C3-596B-B9975541710D}"/>
              </a:ext>
            </a:extLst>
          </p:cNvPr>
          <p:cNvPicPr>
            <a:picLocks noChangeAspect="1"/>
          </p:cNvPicPr>
          <p:nvPr/>
        </p:nvPicPr>
        <p:blipFill>
          <a:blip r:embed="rId5"/>
          <a:stretch>
            <a:fillRect/>
          </a:stretch>
        </p:blipFill>
        <p:spPr>
          <a:xfrm>
            <a:off x="7877541" y="3817074"/>
            <a:ext cx="67645" cy="67645"/>
          </a:xfrm>
          <a:prstGeom prst="rect">
            <a:avLst/>
          </a:prstGeom>
        </p:spPr>
      </p:pic>
      <p:sp>
        <p:nvSpPr>
          <p:cNvPr id="9" name="TextBox 8">
            <a:extLst>
              <a:ext uri="{FF2B5EF4-FFF2-40B4-BE49-F238E27FC236}">
                <a16:creationId xmlns:a16="http://schemas.microsoft.com/office/drawing/2014/main" id="{9DB4EF1A-BEB3-D49B-C10F-D0AD18EFA78F}"/>
              </a:ext>
            </a:extLst>
          </p:cNvPr>
          <p:cNvSpPr txBox="1"/>
          <p:nvPr/>
        </p:nvSpPr>
        <p:spPr>
          <a:xfrm>
            <a:off x="8377788" y="3700053"/>
            <a:ext cx="2026517" cy="369332"/>
          </a:xfrm>
          <a:prstGeom prst="rect">
            <a:avLst/>
          </a:prstGeom>
          <a:noFill/>
        </p:spPr>
        <p:txBody>
          <a:bodyPr wrap="none" rtlCol="0">
            <a:spAutoFit/>
          </a:bodyPr>
          <a:lstStyle/>
          <a:p>
            <a:r>
              <a:rPr lang="en-US" dirty="0"/>
              <a:t>~200-300x smaller</a:t>
            </a:r>
          </a:p>
        </p:txBody>
      </p:sp>
    </p:spTree>
    <p:extLst>
      <p:ext uri="{BB962C8B-B14F-4D97-AF65-F5344CB8AC3E}">
        <p14:creationId xmlns:p14="http://schemas.microsoft.com/office/powerpoint/2010/main" val="11247032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F0CCC29-A0E2-C2DF-13B5-074C42CA656D}"/>
              </a:ext>
            </a:extLst>
          </p:cNvPr>
          <p:cNvSpPr txBox="1"/>
          <p:nvPr/>
        </p:nvSpPr>
        <p:spPr>
          <a:xfrm>
            <a:off x="167148" y="227441"/>
            <a:ext cx="7071488" cy="646331"/>
          </a:xfrm>
          <a:prstGeom prst="rect">
            <a:avLst/>
          </a:prstGeom>
          <a:noFill/>
        </p:spPr>
        <p:txBody>
          <a:bodyPr wrap="none" rtlCol="0">
            <a:spAutoFit/>
          </a:bodyPr>
          <a:lstStyle/>
          <a:p>
            <a:r>
              <a:rPr lang="en-US" sz="3600" dirty="0"/>
              <a:t>Just a few genes to make it all work</a:t>
            </a:r>
          </a:p>
        </p:txBody>
      </p:sp>
      <p:pic>
        <p:nvPicPr>
          <p:cNvPr id="3" name="Picture 2">
            <a:extLst>
              <a:ext uri="{FF2B5EF4-FFF2-40B4-BE49-F238E27FC236}">
                <a16:creationId xmlns:a16="http://schemas.microsoft.com/office/drawing/2014/main" id="{DDA54560-8E86-EC7C-C931-BD83E4B2D54A}"/>
              </a:ext>
            </a:extLst>
          </p:cNvPr>
          <p:cNvPicPr>
            <a:picLocks noChangeAspect="1"/>
          </p:cNvPicPr>
          <p:nvPr/>
        </p:nvPicPr>
        <p:blipFill>
          <a:blip r:embed="rId3"/>
          <a:stretch>
            <a:fillRect/>
          </a:stretch>
        </p:blipFill>
        <p:spPr>
          <a:xfrm>
            <a:off x="175472" y="878030"/>
            <a:ext cx="7498642" cy="5752529"/>
          </a:xfrm>
          <a:prstGeom prst="rect">
            <a:avLst/>
          </a:prstGeom>
        </p:spPr>
      </p:pic>
      <p:pic>
        <p:nvPicPr>
          <p:cNvPr id="7" name="Picture 6">
            <a:extLst>
              <a:ext uri="{FF2B5EF4-FFF2-40B4-BE49-F238E27FC236}">
                <a16:creationId xmlns:a16="http://schemas.microsoft.com/office/drawing/2014/main" id="{F6AC9BB4-91F6-53A3-D9FA-901CEAEF87D6}"/>
              </a:ext>
            </a:extLst>
          </p:cNvPr>
          <p:cNvPicPr>
            <a:picLocks noChangeAspect="1"/>
          </p:cNvPicPr>
          <p:nvPr/>
        </p:nvPicPr>
        <p:blipFill>
          <a:blip r:embed="rId4"/>
          <a:stretch>
            <a:fillRect/>
          </a:stretch>
        </p:blipFill>
        <p:spPr>
          <a:xfrm>
            <a:off x="7820418" y="873772"/>
            <a:ext cx="4338530" cy="6236208"/>
          </a:xfrm>
          <a:prstGeom prst="rect">
            <a:avLst/>
          </a:prstGeom>
        </p:spPr>
      </p:pic>
      <p:sp>
        <p:nvSpPr>
          <p:cNvPr id="19" name="TextBox 18">
            <a:extLst>
              <a:ext uri="{FF2B5EF4-FFF2-40B4-BE49-F238E27FC236}">
                <a16:creationId xmlns:a16="http://schemas.microsoft.com/office/drawing/2014/main" id="{AA4DD14D-598A-3B1B-8C86-A9E9050F32FE}"/>
              </a:ext>
            </a:extLst>
          </p:cNvPr>
          <p:cNvSpPr txBox="1"/>
          <p:nvPr/>
        </p:nvSpPr>
        <p:spPr>
          <a:xfrm>
            <a:off x="9823376" y="550606"/>
            <a:ext cx="1680268" cy="307777"/>
          </a:xfrm>
          <a:prstGeom prst="rect">
            <a:avLst/>
          </a:prstGeom>
          <a:noFill/>
        </p:spPr>
        <p:txBody>
          <a:bodyPr wrap="none" rtlCol="0">
            <a:spAutoFit/>
          </a:bodyPr>
          <a:lstStyle/>
          <a:p>
            <a:r>
              <a:rPr lang="en-US" sz="1400" dirty="0"/>
              <a:t>~29’000 bases long</a:t>
            </a:r>
          </a:p>
        </p:txBody>
      </p:sp>
    </p:spTree>
    <p:extLst>
      <p:ext uri="{BB962C8B-B14F-4D97-AF65-F5344CB8AC3E}">
        <p14:creationId xmlns:p14="http://schemas.microsoft.com/office/powerpoint/2010/main" val="24184447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D4E98-FCE6-29A0-B91D-618799E308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DAEDFBF-58ED-7DAC-70CF-720FF0958581}"/>
              </a:ext>
            </a:extLst>
          </p:cNvPr>
          <p:cNvSpPr txBox="1"/>
          <p:nvPr/>
        </p:nvSpPr>
        <p:spPr>
          <a:xfrm>
            <a:off x="167148" y="227441"/>
            <a:ext cx="8235781" cy="646331"/>
          </a:xfrm>
          <a:prstGeom prst="rect">
            <a:avLst/>
          </a:prstGeom>
          <a:noFill/>
        </p:spPr>
        <p:txBody>
          <a:bodyPr wrap="none" rtlCol="0">
            <a:spAutoFit/>
          </a:bodyPr>
          <a:lstStyle/>
          <a:p>
            <a:r>
              <a:rPr lang="en-US" sz="3600" dirty="0"/>
              <a:t>Mistakes can happen during replication</a:t>
            </a:r>
          </a:p>
        </p:txBody>
      </p:sp>
      <p:pic>
        <p:nvPicPr>
          <p:cNvPr id="5" name="Picture 4">
            <a:extLst>
              <a:ext uri="{FF2B5EF4-FFF2-40B4-BE49-F238E27FC236}">
                <a16:creationId xmlns:a16="http://schemas.microsoft.com/office/drawing/2014/main" id="{0632BE6D-141D-F75A-806E-3F2DA0DD00F9}"/>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495877" y="966012"/>
            <a:ext cx="3555093" cy="5664547"/>
          </a:xfrm>
          <a:prstGeom prst="rect">
            <a:avLst/>
          </a:prstGeom>
        </p:spPr>
      </p:pic>
      <p:pic>
        <p:nvPicPr>
          <p:cNvPr id="6" name="Picture 5">
            <a:extLst>
              <a:ext uri="{FF2B5EF4-FFF2-40B4-BE49-F238E27FC236}">
                <a16:creationId xmlns:a16="http://schemas.microsoft.com/office/drawing/2014/main" id="{6DEA82F0-EF50-EF6D-8BCE-39509DAF27D0}"/>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758542" y="2339680"/>
            <a:ext cx="5711365" cy="2178639"/>
          </a:xfrm>
          <a:prstGeom prst="rect">
            <a:avLst/>
          </a:prstGeom>
        </p:spPr>
      </p:pic>
    </p:spTree>
    <p:extLst>
      <p:ext uri="{BB962C8B-B14F-4D97-AF65-F5344CB8AC3E}">
        <p14:creationId xmlns:p14="http://schemas.microsoft.com/office/powerpoint/2010/main" val="22881306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B31F7-2BD5-13E6-B985-B082146850D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4DF6050-77CA-A6BB-5C82-0B06E562E5C5}"/>
              </a:ext>
            </a:extLst>
          </p:cNvPr>
          <p:cNvSpPr txBox="1"/>
          <p:nvPr/>
        </p:nvSpPr>
        <p:spPr>
          <a:xfrm>
            <a:off x="167148" y="227441"/>
            <a:ext cx="10908179" cy="646331"/>
          </a:xfrm>
          <a:prstGeom prst="rect">
            <a:avLst/>
          </a:prstGeom>
          <a:noFill/>
        </p:spPr>
        <p:txBody>
          <a:bodyPr wrap="none" rtlCol="0">
            <a:spAutoFit/>
          </a:bodyPr>
          <a:lstStyle/>
          <a:p>
            <a:r>
              <a:rPr lang="en-US" sz="3600" dirty="0"/>
              <a:t>Mutations change the behavior of the encoded protein</a:t>
            </a:r>
          </a:p>
        </p:txBody>
      </p:sp>
      <p:pic>
        <p:nvPicPr>
          <p:cNvPr id="12" name="Picture 11">
            <a:extLst>
              <a:ext uri="{FF2B5EF4-FFF2-40B4-BE49-F238E27FC236}">
                <a16:creationId xmlns:a16="http://schemas.microsoft.com/office/drawing/2014/main" id="{2D57FF32-7668-E5F1-4584-4D96597B9490}"/>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110799" y="3057390"/>
            <a:ext cx="4117848" cy="1570781"/>
          </a:xfrm>
          <a:prstGeom prst="rect">
            <a:avLst/>
          </a:prstGeom>
        </p:spPr>
      </p:pic>
      <p:pic>
        <p:nvPicPr>
          <p:cNvPr id="14" name="Picture 13">
            <a:extLst>
              <a:ext uri="{FF2B5EF4-FFF2-40B4-BE49-F238E27FC236}">
                <a16:creationId xmlns:a16="http://schemas.microsoft.com/office/drawing/2014/main" id="{2CBA25F1-76D9-72CD-03C4-3CE7F0167DD3}"/>
              </a:ext>
            </a:extLst>
          </p:cNvPr>
          <p:cNvPicPr>
            <a:picLocks noChangeAspect="1"/>
          </p:cNvPicPr>
          <p:nvPr/>
        </p:nvPicPr>
        <p:blipFill rotWithShape="1">
          <a:blip r:embed="rId4"/>
          <a:srcRect r="54729"/>
          <a:stretch/>
        </p:blipFill>
        <p:spPr>
          <a:xfrm>
            <a:off x="7451711" y="1383803"/>
            <a:ext cx="4460128" cy="4603293"/>
          </a:xfrm>
          <a:prstGeom prst="rect">
            <a:avLst/>
          </a:prstGeom>
        </p:spPr>
      </p:pic>
      <p:pic>
        <p:nvPicPr>
          <p:cNvPr id="3" name="Picture 2">
            <a:extLst>
              <a:ext uri="{FF2B5EF4-FFF2-40B4-BE49-F238E27FC236}">
                <a16:creationId xmlns:a16="http://schemas.microsoft.com/office/drawing/2014/main" id="{2712640E-1969-1B8F-E963-381BAF1D77A4}"/>
              </a:ext>
              <a:ext uri="{C183D7F6-B498-43B3-948B-1728B52AA6E4}">
                <adec:decorative xmlns:adec="http://schemas.microsoft.com/office/drawing/2017/decorative" val="1"/>
              </a:ext>
            </a:extLst>
          </p:cNvPr>
          <p:cNvPicPr>
            <a:picLocks noChangeAspect="1"/>
          </p:cNvPicPr>
          <p:nvPr/>
        </p:nvPicPr>
        <p:blipFill>
          <a:blip r:embed="rId5"/>
          <a:srcRect t="20485" b="13949"/>
          <a:stretch>
            <a:fillRect/>
          </a:stretch>
        </p:blipFill>
        <p:spPr>
          <a:xfrm>
            <a:off x="493579" y="1547882"/>
            <a:ext cx="5352288" cy="1408176"/>
          </a:xfrm>
          <a:prstGeom prst="rect">
            <a:avLst/>
          </a:prstGeom>
        </p:spPr>
      </p:pic>
      <p:pic>
        <p:nvPicPr>
          <p:cNvPr id="4" name="Picture 3">
            <a:extLst>
              <a:ext uri="{FF2B5EF4-FFF2-40B4-BE49-F238E27FC236}">
                <a16:creationId xmlns:a16="http://schemas.microsoft.com/office/drawing/2014/main" id="{44022145-8ABC-2EFA-B228-8175AB299DBA}"/>
              </a:ext>
            </a:extLst>
          </p:cNvPr>
          <p:cNvPicPr>
            <a:picLocks noChangeAspect="1"/>
          </p:cNvPicPr>
          <p:nvPr/>
        </p:nvPicPr>
        <p:blipFill>
          <a:blip r:embed="rId6"/>
          <a:srcRect t="15248" b="18759"/>
          <a:stretch>
            <a:fillRect/>
          </a:stretch>
        </p:blipFill>
        <p:spPr>
          <a:xfrm>
            <a:off x="493579" y="4729503"/>
            <a:ext cx="5352288" cy="1490472"/>
          </a:xfrm>
          <a:prstGeom prst="rect">
            <a:avLst/>
          </a:prstGeom>
        </p:spPr>
      </p:pic>
    </p:spTree>
    <p:extLst>
      <p:ext uri="{BB962C8B-B14F-4D97-AF65-F5344CB8AC3E}">
        <p14:creationId xmlns:p14="http://schemas.microsoft.com/office/powerpoint/2010/main" val="6196025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41AADC-2B76-CC77-8556-541A32A4947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052F300-623A-838A-32B0-05B1B54C3535}"/>
              </a:ext>
            </a:extLst>
          </p:cNvPr>
          <p:cNvSpPr txBox="1"/>
          <p:nvPr/>
        </p:nvSpPr>
        <p:spPr>
          <a:xfrm>
            <a:off x="167148" y="227441"/>
            <a:ext cx="4737002" cy="646331"/>
          </a:xfrm>
          <a:prstGeom prst="rect">
            <a:avLst/>
          </a:prstGeom>
          <a:noFill/>
        </p:spPr>
        <p:txBody>
          <a:bodyPr wrap="none" rtlCol="0">
            <a:spAutoFit/>
          </a:bodyPr>
          <a:lstStyle/>
          <a:p>
            <a:r>
              <a:rPr lang="en-US" sz="3600" dirty="0"/>
              <a:t>One protein stands out</a:t>
            </a:r>
          </a:p>
        </p:txBody>
      </p:sp>
      <p:pic>
        <p:nvPicPr>
          <p:cNvPr id="3" name="Picture 2">
            <a:extLst>
              <a:ext uri="{FF2B5EF4-FFF2-40B4-BE49-F238E27FC236}">
                <a16:creationId xmlns:a16="http://schemas.microsoft.com/office/drawing/2014/main" id="{96CEC601-CF93-6046-4B41-1A824B655CFF}"/>
              </a:ext>
            </a:extLst>
          </p:cNvPr>
          <p:cNvPicPr>
            <a:picLocks noChangeAspect="1"/>
          </p:cNvPicPr>
          <p:nvPr/>
        </p:nvPicPr>
        <p:blipFill>
          <a:blip r:embed="rId3"/>
          <a:stretch>
            <a:fillRect/>
          </a:stretch>
        </p:blipFill>
        <p:spPr>
          <a:xfrm>
            <a:off x="2346679" y="878030"/>
            <a:ext cx="7498642" cy="5752529"/>
          </a:xfrm>
          <a:prstGeom prst="rect">
            <a:avLst/>
          </a:prstGeom>
        </p:spPr>
      </p:pic>
      <p:sp>
        <p:nvSpPr>
          <p:cNvPr id="18" name="Freeform 17">
            <a:extLst>
              <a:ext uri="{FF2B5EF4-FFF2-40B4-BE49-F238E27FC236}">
                <a16:creationId xmlns:a16="http://schemas.microsoft.com/office/drawing/2014/main" id="{06B50ADA-9751-7DAC-522F-581138C74991}"/>
              </a:ext>
            </a:extLst>
          </p:cNvPr>
          <p:cNvSpPr/>
          <p:nvPr/>
        </p:nvSpPr>
        <p:spPr>
          <a:xfrm>
            <a:off x="2171207" y="873772"/>
            <a:ext cx="7744968" cy="5892788"/>
          </a:xfrm>
          <a:custGeom>
            <a:avLst/>
            <a:gdLst>
              <a:gd name="csX0" fmla="*/ 0 w 7711916"/>
              <a:gd name="csY0" fmla="*/ 0 h 5892788"/>
              <a:gd name="csX1" fmla="*/ 7711916 w 7711916"/>
              <a:gd name="csY1" fmla="*/ 0 h 5892788"/>
              <a:gd name="csX2" fmla="*/ 7711916 w 7711916"/>
              <a:gd name="csY2" fmla="*/ 5892788 h 5892788"/>
              <a:gd name="csX3" fmla="*/ 0 w 7711916"/>
              <a:gd name="csY3" fmla="*/ 5892788 h 5892788"/>
              <a:gd name="csX4" fmla="*/ 0 w 7711916"/>
              <a:gd name="csY4" fmla="*/ 2651240 h 5892788"/>
              <a:gd name="csX5" fmla="*/ 1320030 w 7711916"/>
              <a:gd name="csY5" fmla="*/ 3460484 h 5892788"/>
              <a:gd name="csX6" fmla="*/ 2640060 w 7711916"/>
              <a:gd name="csY6" fmla="*/ 2651240 h 5892788"/>
              <a:gd name="csX7" fmla="*/ 1320030 w 7711916"/>
              <a:gd name="csY7" fmla="*/ 1841996 h 5892788"/>
              <a:gd name="csX8" fmla="*/ 0 w 7711916"/>
              <a:gd name="csY8" fmla="*/ 2651240 h 5892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711916" h="5892788">
                <a:moveTo>
                  <a:pt x="0" y="0"/>
                </a:moveTo>
                <a:lnTo>
                  <a:pt x="7711916" y="0"/>
                </a:lnTo>
                <a:lnTo>
                  <a:pt x="7711916" y="5892788"/>
                </a:lnTo>
                <a:lnTo>
                  <a:pt x="0" y="5892788"/>
                </a:lnTo>
                <a:lnTo>
                  <a:pt x="0" y="2651240"/>
                </a:lnTo>
                <a:cubicBezTo>
                  <a:pt x="0" y="3098173"/>
                  <a:pt x="590998" y="3460484"/>
                  <a:pt x="1320030" y="3460484"/>
                </a:cubicBezTo>
                <a:cubicBezTo>
                  <a:pt x="2049062" y="3460484"/>
                  <a:pt x="2640060" y="3098173"/>
                  <a:pt x="2640060" y="2651240"/>
                </a:cubicBezTo>
                <a:cubicBezTo>
                  <a:pt x="2640060" y="2204307"/>
                  <a:pt x="2049062" y="1841996"/>
                  <a:pt x="1320030" y="1841996"/>
                </a:cubicBezTo>
                <a:cubicBezTo>
                  <a:pt x="590998" y="1841996"/>
                  <a:pt x="0" y="2204307"/>
                  <a:pt x="0" y="2651240"/>
                </a:cubicBezTo>
                <a:close/>
              </a:path>
            </a:pathLst>
          </a:custGeom>
          <a:solidFill>
            <a:srgbClr val="FFFFFF">
              <a:alpha val="8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473425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3DBC5-4607-E226-101B-11DA815B2B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2E69865-F944-C8CE-2FD4-CD9CF72BA9F9}"/>
              </a:ext>
            </a:extLst>
          </p:cNvPr>
          <p:cNvSpPr txBox="1"/>
          <p:nvPr/>
        </p:nvSpPr>
        <p:spPr>
          <a:xfrm>
            <a:off x="167148" y="227441"/>
            <a:ext cx="6471323" cy="646331"/>
          </a:xfrm>
          <a:prstGeom prst="rect">
            <a:avLst/>
          </a:prstGeom>
          <a:noFill/>
        </p:spPr>
        <p:txBody>
          <a:bodyPr wrap="none" rtlCol="0">
            <a:spAutoFit/>
          </a:bodyPr>
          <a:lstStyle/>
          <a:p>
            <a:r>
              <a:rPr lang="en-US" sz="3600" dirty="0"/>
              <a:t>What makes a virus dangerous?</a:t>
            </a:r>
          </a:p>
        </p:txBody>
      </p:sp>
      <p:pic>
        <p:nvPicPr>
          <p:cNvPr id="3" name="Picture 2" descr="Eukaryotic Animal Cell Structure A Visual Guide Hubpages">
            <a:extLst>
              <a:ext uri="{FF2B5EF4-FFF2-40B4-BE49-F238E27FC236}">
                <a16:creationId xmlns:a16="http://schemas.microsoft.com/office/drawing/2014/main" id="{8C2FD915-D536-B0DD-9337-E0E09ABBD2DF}"/>
              </a:ext>
            </a:extLst>
          </p:cNvPr>
          <p:cNvPicPr>
            <a:picLocks noChangeAspect="1"/>
          </p:cNvPicPr>
          <p:nvPr/>
        </p:nvPicPr>
        <p:blipFill>
          <a:blip r:embed="rId3"/>
          <a:stretch>
            <a:fillRect/>
          </a:stretch>
        </p:blipFill>
        <p:spPr>
          <a:xfrm>
            <a:off x="708508" y="1790700"/>
            <a:ext cx="3884590" cy="3884590"/>
          </a:xfrm>
          <a:prstGeom prst="rect">
            <a:avLst/>
          </a:prstGeom>
        </p:spPr>
      </p:pic>
      <p:sp>
        <p:nvSpPr>
          <p:cNvPr id="5" name="TextBox 4">
            <a:extLst>
              <a:ext uri="{FF2B5EF4-FFF2-40B4-BE49-F238E27FC236}">
                <a16:creationId xmlns:a16="http://schemas.microsoft.com/office/drawing/2014/main" id="{534D20B0-497C-BC35-842F-41BD049E444C}"/>
              </a:ext>
            </a:extLst>
          </p:cNvPr>
          <p:cNvSpPr txBox="1"/>
          <p:nvPr/>
        </p:nvSpPr>
        <p:spPr>
          <a:xfrm>
            <a:off x="923348" y="5730425"/>
            <a:ext cx="3454920" cy="369332"/>
          </a:xfrm>
          <a:prstGeom prst="rect">
            <a:avLst/>
          </a:prstGeom>
          <a:noFill/>
        </p:spPr>
        <p:txBody>
          <a:bodyPr wrap="none" rtlCol="0">
            <a:spAutoFit/>
          </a:bodyPr>
          <a:lstStyle/>
          <a:p>
            <a:pPr algn="ctr"/>
            <a:r>
              <a:rPr lang="en-US" dirty="0"/>
              <a:t>virus enters host cell an hijacks it</a:t>
            </a:r>
          </a:p>
        </p:txBody>
      </p:sp>
      <p:pic>
        <p:nvPicPr>
          <p:cNvPr id="8" name="Picture 7" descr="Virus Diagram Unlabeled">
            <a:extLst>
              <a:ext uri="{FF2B5EF4-FFF2-40B4-BE49-F238E27FC236}">
                <a16:creationId xmlns:a16="http://schemas.microsoft.com/office/drawing/2014/main" id="{5D123305-7B2D-3B6D-DF7E-B640AE6B629B}"/>
              </a:ext>
            </a:extLst>
          </p:cNvPr>
          <p:cNvPicPr>
            <a:picLocks noChangeAspect="1"/>
          </p:cNvPicPr>
          <p:nvPr/>
        </p:nvPicPr>
        <p:blipFill>
          <a:blip r:embed="rId4"/>
          <a:stretch>
            <a:fillRect/>
          </a:stretch>
        </p:blipFill>
        <p:spPr>
          <a:xfrm>
            <a:off x="3534026" y="2683744"/>
            <a:ext cx="159504" cy="159504"/>
          </a:xfrm>
          <a:prstGeom prst="rect">
            <a:avLst/>
          </a:prstGeom>
        </p:spPr>
      </p:pic>
      <p:sp>
        <p:nvSpPr>
          <p:cNvPr id="6" name="Down Arrow 5">
            <a:extLst>
              <a:ext uri="{FF2B5EF4-FFF2-40B4-BE49-F238E27FC236}">
                <a16:creationId xmlns:a16="http://schemas.microsoft.com/office/drawing/2014/main" id="{D00F746D-3114-9B6F-858D-0D45D0DB6222}"/>
              </a:ext>
            </a:extLst>
          </p:cNvPr>
          <p:cNvSpPr/>
          <p:nvPr/>
        </p:nvSpPr>
        <p:spPr>
          <a:xfrm rot="5400000">
            <a:off x="4034846" y="2350112"/>
            <a:ext cx="429594" cy="667265"/>
          </a:xfrm>
          <a:prstGeom prst="downArrow">
            <a:avLst/>
          </a:prstGeom>
          <a:ln>
            <a:solidFill>
              <a:srgbClr val="C0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1" name="Picture 10">
            <a:extLst>
              <a:ext uri="{FF2B5EF4-FFF2-40B4-BE49-F238E27FC236}">
                <a16:creationId xmlns:a16="http://schemas.microsoft.com/office/drawing/2014/main" id="{FCA32442-106E-FCF0-4216-20A94BE30547}"/>
              </a:ext>
            </a:extLst>
          </p:cNvPr>
          <p:cNvPicPr>
            <a:picLocks noChangeAspect="1"/>
          </p:cNvPicPr>
          <p:nvPr/>
        </p:nvPicPr>
        <p:blipFill>
          <a:blip r:embed="rId5"/>
          <a:srcRect l="50000" b="3628"/>
          <a:stretch>
            <a:fillRect/>
          </a:stretch>
        </p:blipFill>
        <p:spPr>
          <a:xfrm>
            <a:off x="6638471" y="627094"/>
            <a:ext cx="4013053" cy="6230906"/>
          </a:xfrm>
          <a:prstGeom prst="rect">
            <a:avLst/>
          </a:prstGeom>
        </p:spPr>
      </p:pic>
      <p:sp>
        <p:nvSpPr>
          <p:cNvPr id="12" name="Down Arrow 11">
            <a:extLst>
              <a:ext uri="{FF2B5EF4-FFF2-40B4-BE49-F238E27FC236}">
                <a16:creationId xmlns:a16="http://schemas.microsoft.com/office/drawing/2014/main" id="{35FA8BEB-2F08-89C5-F8D1-347C57022209}"/>
              </a:ext>
            </a:extLst>
          </p:cNvPr>
          <p:cNvSpPr/>
          <p:nvPr/>
        </p:nvSpPr>
        <p:spPr>
          <a:xfrm rot="14400000">
            <a:off x="7102959" y="1272751"/>
            <a:ext cx="429594" cy="1353711"/>
          </a:xfrm>
          <a:prstGeom prst="downArrow">
            <a:avLst/>
          </a:prstGeom>
          <a:ln>
            <a:solidFill>
              <a:srgbClr val="C0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EB22669B-D73E-B899-2460-B6D09470EB9F}"/>
              </a:ext>
            </a:extLst>
          </p:cNvPr>
          <p:cNvSpPr txBox="1"/>
          <p:nvPr/>
        </p:nvSpPr>
        <p:spPr>
          <a:xfrm>
            <a:off x="4682566" y="2289797"/>
            <a:ext cx="2038328" cy="707886"/>
          </a:xfrm>
          <a:prstGeom prst="rect">
            <a:avLst/>
          </a:prstGeom>
          <a:noFill/>
        </p:spPr>
        <p:txBody>
          <a:bodyPr wrap="square" rtlCol="0">
            <a:spAutoFit/>
          </a:bodyPr>
          <a:lstStyle/>
          <a:p>
            <a:pPr algn="ctr"/>
            <a:r>
              <a:rPr lang="en-US" sz="2000" b="1" dirty="0">
                <a:solidFill>
                  <a:srgbClr val="C00000"/>
                </a:solidFill>
              </a:rPr>
              <a:t>one of the most important steps</a:t>
            </a:r>
          </a:p>
        </p:txBody>
      </p:sp>
    </p:spTree>
    <p:extLst>
      <p:ext uri="{BB962C8B-B14F-4D97-AF65-F5344CB8AC3E}">
        <p14:creationId xmlns:p14="http://schemas.microsoft.com/office/powerpoint/2010/main" val="105170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2" grpId="0" animBg="1"/>
      <p:bldP spid="1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pike protein from SARS-CoV, with one receptor binding domain (RBD) in the up position, and a closed conformation of the SARS-CoV-2 spike. The S1 fragment is shown in magenta and the S2 fragment in red, with glycosylation in lighter shades.">
            <a:extLst>
              <a:ext uri="{FF2B5EF4-FFF2-40B4-BE49-F238E27FC236}">
                <a16:creationId xmlns:a16="http://schemas.microsoft.com/office/drawing/2014/main" id="{9AAA5A53-2905-2FDC-B529-7E86570BF98B}"/>
              </a:ext>
            </a:extLst>
          </p:cNvPr>
          <p:cNvPicPr>
            <a:picLocks noChangeAspect="1"/>
          </p:cNvPicPr>
          <p:nvPr/>
        </p:nvPicPr>
        <p:blipFill>
          <a:blip r:embed="rId3"/>
          <a:srcRect l="51403" t="6089"/>
          <a:stretch>
            <a:fillRect/>
          </a:stretch>
        </p:blipFill>
        <p:spPr>
          <a:xfrm>
            <a:off x="521208" y="1911096"/>
            <a:ext cx="2534452" cy="4830318"/>
          </a:xfrm>
          <a:prstGeom prst="rect">
            <a:avLst/>
          </a:prstGeom>
        </p:spPr>
      </p:pic>
      <p:pic>
        <p:nvPicPr>
          <p:cNvPr id="3" name="Picture 2" descr="Illustration of a complex of the spike protein (red and magenta) bound to its receptor ACE2 (blue). ACE2 is part of a complex with the amino acid transporter B0AT1 (green). The cell membrane is shown schematically in light blue at the bottom.">
            <a:extLst>
              <a:ext uri="{FF2B5EF4-FFF2-40B4-BE49-F238E27FC236}">
                <a16:creationId xmlns:a16="http://schemas.microsoft.com/office/drawing/2014/main" id="{ABADD86C-D5EC-3EBC-2512-338887B74FAB}"/>
              </a:ext>
            </a:extLst>
          </p:cNvPr>
          <p:cNvPicPr>
            <a:picLocks noChangeAspect="1"/>
          </p:cNvPicPr>
          <p:nvPr/>
        </p:nvPicPr>
        <p:blipFill>
          <a:blip r:embed="rId4"/>
          <a:stretch>
            <a:fillRect/>
          </a:stretch>
        </p:blipFill>
        <p:spPr>
          <a:xfrm>
            <a:off x="4998577" y="1597914"/>
            <a:ext cx="3767614" cy="5143500"/>
          </a:xfrm>
          <a:prstGeom prst="rect">
            <a:avLst/>
          </a:prstGeom>
        </p:spPr>
      </p:pic>
      <p:sp>
        <p:nvSpPr>
          <p:cNvPr id="4" name="TextBox 3">
            <a:extLst>
              <a:ext uri="{FF2B5EF4-FFF2-40B4-BE49-F238E27FC236}">
                <a16:creationId xmlns:a16="http://schemas.microsoft.com/office/drawing/2014/main" id="{A1221FC4-BA5A-C9DC-9DC7-C26BF4C72C5D}"/>
              </a:ext>
            </a:extLst>
          </p:cNvPr>
          <p:cNvSpPr txBox="1"/>
          <p:nvPr/>
        </p:nvSpPr>
        <p:spPr>
          <a:xfrm>
            <a:off x="167148" y="227441"/>
            <a:ext cx="7919540" cy="646331"/>
          </a:xfrm>
          <a:prstGeom prst="rect">
            <a:avLst/>
          </a:prstGeom>
          <a:noFill/>
        </p:spPr>
        <p:txBody>
          <a:bodyPr wrap="none" rtlCol="0">
            <a:spAutoFit/>
          </a:bodyPr>
          <a:lstStyle/>
          <a:p>
            <a:r>
              <a:rPr lang="en-US" sz="3600" dirty="0"/>
              <a:t>The spike protein is the key into the cell</a:t>
            </a:r>
          </a:p>
        </p:txBody>
      </p:sp>
      <p:sp>
        <p:nvSpPr>
          <p:cNvPr id="5" name="TextBox 4">
            <a:extLst>
              <a:ext uri="{FF2B5EF4-FFF2-40B4-BE49-F238E27FC236}">
                <a16:creationId xmlns:a16="http://schemas.microsoft.com/office/drawing/2014/main" id="{37F19E98-65AA-A285-FF01-53B545643541}"/>
              </a:ext>
            </a:extLst>
          </p:cNvPr>
          <p:cNvSpPr txBox="1"/>
          <p:nvPr/>
        </p:nvSpPr>
        <p:spPr>
          <a:xfrm>
            <a:off x="773829" y="1413248"/>
            <a:ext cx="2029210" cy="369332"/>
          </a:xfrm>
          <a:prstGeom prst="rect">
            <a:avLst/>
          </a:prstGeom>
          <a:noFill/>
        </p:spPr>
        <p:txBody>
          <a:bodyPr wrap="none" rtlCol="0">
            <a:spAutoFit/>
          </a:bodyPr>
          <a:lstStyle/>
          <a:p>
            <a:pPr algn="ctr"/>
            <a:r>
              <a:rPr lang="en-US" dirty="0"/>
              <a:t>SARS-CoV-2 </a:t>
            </a:r>
            <a:r>
              <a:rPr lang="en-US" b="1" dirty="0"/>
              <a:t>Spike</a:t>
            </a:r>
          </a:p>
        </p:txBody>
      </p:sp>
      <p:sp>
        <p:nvSpPr>
          <p:cNvPr id="6" name="TextBox 5">
            <a:extLst>
              <a:ext uri="{FF2B5EF4-FFF2-40B4-BE49-F238E27FC236}">
                <a16:creationId xmlns:a16="http://schemas.microsoft.com/office/drawing/2014/main" id="{34240F3E-D1F9-8E4F-0BA7-ABE0F4910A08}"/>
              </a:ext>
            </a:extLst>
          </p:cNvPr>
          <p:cNvSpPr txBox="1"/>
          <p:nvPr/>
        </p:nvSpPr>
        <p:spPr>
          <a:xfrm>
            <a:off x="8579757" y="2549390"/>
            <a:ext cx="2029210" cy="369332"/>
          </a:xfrm>
          <a:prstGeom prst="rect">
            <a:avLst/>
          </a:prstGeom>
          <a:noFill/>
        </p:spPr>
        <p:txBody>
          <a:bodyPr wrap="none" rtlCol="0">
            <a:spAutoFit/>
          </a:bodyPr>
          <a:lstStyle/>
          <a:p>
            <a:pPr algn="ctr"/>
            <a:r>
              <a:rPr lang="en-US" dirty="0"/>
              <a:t>SARS-CoV-2 </a:t>
            </a:r>
            <a:r>
              <a:rPr lang="en-US" b="1" dirty="0"/>
              <a:t>Spike</a:t>
            </a:r>
          </a:p>
        </p:txBody>
      </p:sp>
      <p:sp>
        <p:nvSpPr>
          <p:cNvPr id="7" name="TextBox 6">
            <a:extLst>
              <a:ext uri="{FF2B5EF4-FFF2-40B4-BE49-F238E27FC236}">
                <a16:creationId xmlns:a16="http://schemas.microsoft.com/office/drawing/2014/main" id="{7E57A5FE-8B86-E1BE-F0FA-2F6D29AEB1B7}"/>
              </a:ext>
            </a:extLst>
          </p:cNvPr>
          <p:cNvSpPr txBox="1"/>
          <p:nvPr/>
        </p:nvSpPr>
        <p:spPr>
          <a:xfrm>
            <a:off x="3715576" y="3341870"/>
            <a:ext cx="2230804" cy="369332"/>
          </a:xfrm>
          <a:prstGeom prst="rect">
            <a:avLst/>
          </a:prstGeom>
          <a:noFill/>
        </p:spPr>
        <p:txBody>
          <a:bodyPr wrap="none" rtlCol="0">
            <a:spAutoFit/>
          </a:bodyPr>
          <a:lstStyle/>
          <a:p>
            <a:pPr algn="ctr"/>
            <a:r>
              <a:rPr lang="en-US" dirty="0"/>
              <a:t>human </a:t>
            </a:r>
            <a:r>
              <a:rPr lang="en-US" b="1" dirty="0"/>
              <a:t>ACE2</a:t>
            </a:r>
            <a:r>
              <a:rPr lang="en-US" dirty="0"/>
              <a:t> protein</a:t>
            </a:r>
          </a:p>
        </p:txBody>
      </p:sp>
      <p:sp>
        <p:nvSpPr>
          <p:cNvPr id="8" name="TextBox 7">
            <a:extLst>
              <a:ext uri="{FF2B5EF4-FFF2-40B4-BE49-F238E27FC236}">
                <a16:creationId xmlns:a16="http://schemas.microsoft.com/office/drawing/2014/main" id="{DE3AA159-9045-DB54-3F69-FB33AE753564}"/>
              </a:ext>
            </a:extLst>
          </p:cNvPr>
          <p:cNvSpPr txBox="1"/>
          <p:nvPr/>
        </p:nvSpPr>
        <p:spPr>
          <a:xfrm>
            <a:off x="9089136" y="4781050"/>
            <a:ext cx="2843784" cy="1754326"/>
          </a:xfrm>
          <a:prstGeom prst="rect">
            <a:avLst/>
          </a:prstGeom>
          <a:noFill/>
        </p:spPr>
        <p:txBody>
          <a:bodyPr wrap="square" rtlCol="0">
            <a:spAutoFit/>
          </a:bodyPr>
          <a:lstStyle/>
          <a:p>
            <a:r>
              <a:rPr lang="en-US" b="1" dirty="0"/>
              <a:t>ACE2</a:t>
            </a:r>
            <a:r>
              <a:rPr lang="en-US" dirty="0"/>
              <a:t> is a cell surface protein involved in the control of blood pressure.</a:t>
            </a:r>
          </a:p>
          <a:p>
            <a:endParaRPr lang="en-US" dirty="0"/>
          </a:p>
          <a:p>
            <a:r>
              <a:rPr lang="en-US" dirty="0"/>
              <a:t>It is found on lung, heart, kidney, and intestinal cells</a:t>
            </a:r>
          </a:p>
        </p:txBody>
      </p:sp>
      <p:sp>
        <p:nvSpPr>
          <p:cNvPr id="9" name="TextBox 8">
            <a:extLst>
              <a:ext uri="{FF2B5EF4-FFF2-40B4-BE49-F238E27FC236}">
                <a16:creationId xmlns:a16="http://schemas.microsoft.com/office/drawing/2014/main" id="{FE87F17F-08EE-C7BB-1445-AA5082A68600}"/>
              </a:ext>
            </a:extLst>
          </p:cNvPr>
          <p:cNvSpPr txBox="1"/>
          <p:nvPr/>
        </p:nvSpPr>
        <p:spPr>
          <a:xfrm>
            <a:off x="198263" y="5658213"/>
            <a:ext cx="1186543" cy="369332"/>
          </a:xfrm>
          <a:prstGeom prst="rect">
            <a:avLst/>
          </a:prstGeom>
          <a:noFill/>
        </p:spPr>
        <p:txBody>
          <a:bodyPr wrap="none" rtlCol="0">
            <a:spAutoFit/>
          </a:bodyPr>
          <a:lstStyle/>
          <a:p>
            <a:r>
              <a:rPr lang="en-US" dirty="0">
                <a:solidFill>
                  <a:srgbClr val="C00000"/>
                </a:solidFill>
              </a:rPr>
              <a:t>virus shell</a:t>
            </a:r>
          </a:p>
        </p:txBody>
      </p:sp>
      <p:sp>
        <p:nvSpPr>
          <p:cNvPr id="10" name="TextBox 9">
            <a:extLst>
              <a:ext uri="{FF2B5EF4-FFF2-40B4-BE49-F238E27FC236}">
                <a16:creationId xmlns:a16="http://schemas.microsoft.com/office/drawing/2014/main" id="{FEC0F814-4761-2E67-9193-01D5ECAA0EC4}"/>
              </a:ext>
            </a:extLst>
          </p:cNvPr>
          <p:cNvSpPr txBox="1"/>
          <p:nvPr/>
        </p:nvSpPr>
        <p:spPr>
          <a:xfrm>
            <a:off x="7330130" y="6021386"/>
            <a:ext cx="1681422" cy="369332"/>
          </a:xfrm>
          <a:prstGeom prst="rect">
            <a:avLst/>
          </a:prstGeom>
          <a:noFill/>
        </p:spPr>
        <p:txBody>
          <a:bodyPr wrap="none" rtlCol="0">
            <a:spAutoFit/>
          </a:bodyPr>
          <a:lstStyle/>
          <a:p>
            <a:r>
              <a:rPr lang="en-US" dirty="0">
                <a:solidFill>
                  <a:srgbClr val="0070C0"/>
                </a:solidFill>
              </a:rPr>
              <a:t>cell membrane</a:t>
            </a:r>
          </a:p>
        </p:txBody>
      </p:sp>
    </p:spTree>
    <p:extLst>
      <p:ext uri="{BB962C8B-B14F-4D97-AF65-F5344CB8AC3E}">
        <p14:creationId xmlns:p14="http://schemas.microsoft.com/office/powerpoint/2010/main" val="6636982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98E7D-87C6-8029-C758-4ECF9472B25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C657D46-58F6-4F69-B0DB-441A76AB6B1F}"/>
              </a:ext>
            </a:extLst>
          </p:cNvPr>
          <p:cNvSpPr txBox="1"/>
          <p:nvPr/>
        </p:nvSpPr>
        <p:spPr>
          <a:xfrm>
            <a:off x="167148" y="227441"/>
            <a:ext cx="11088292" cy="646331"/>
          </a:xfrm>
          <a:prstGeom prst="rect">
            <a:avLst/>
          </a:prstGeom>
          <a:noFill/>
        </p:spPr>
        <p:txBody>
          <a:bodyPr wrap="none" rtlCol="0">
            <a:spAutoFit/>
          </a:bodyPr>
          <a:lstStyle/>
          <a:p>
            <a:r>
              <a:rPr lang="en-US" sz="3600" dirty="0"/>
              <a:t>Spike mutations change how well the virus infects cells</a:t>
            </a:r>
          </a:p>
        </p:txBody>
      </p:sp>
      <p:pic>
        <p:nvPicPr>
          <p:cNvPr id="6" name="Graphic 5">
            <a:extLst>
              <a:ext uri="{FF2B5EF4-FFF2-40B4-BE49-F238E27FC236}">
                <a16:creationId xmlns:a16="http://schemas.microsoft.com/office/drawing/2014/main" id="{6DB031F2-1A0E-F20E-62D3-49E6AF3BFBA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rcRect b="88899"/>
          <a:stretch>
            <a:fillRect/>
          </a:stretch>
        </p:blipFill>
        <p:spPr>
          <a:xfrm>
            <a:off x="167148" y="873771"/>
            <a:ext cx="7067781" cy="659841"/>
          </a:xfrm>
          <a:prstGeom prst="rect">
            <a:avLst/>
          </a:prstGeom>
        </p:spPr>
      </p:pic>
      <p:pic>
        <p:nvPicPr>
          <p:cNvPr id="8" name="Graphic 7">
            <a:extLst>
              <a:ext uri="{FF2B5EF4-FFF2-40B4-BE49-F238E27FC236}">
                <a16:creationId xmlns:a16="http://schemas.microsoft.com/office/drawing/2014/main" id="{1736F313-AE33-05F9-2B61-6776E2CF79E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rcRect t="67338" b="3777"/>
          <a:stretch>
            <a:fillRect/>
          </a:stretch>
        </p:blipFill>
        <p:spPr>
          <a:xfrm>
            <a:off x="167147" y="1602399"/>
            <a:ext cx="7067783" cy="1716873"/>
          </a:xfrm>
          <a:prstGeom prst="rect">
            <a:avLst/>
          </a:prstGeom>
        </p:spPr>
      </p:pic>
      <p:pic>
        <p:nvPicPr>
          <p:cNvPr id="9" name="Graphic 8">
            <a:extLst>
              <a:ext uri="{FF2B5EF4-FFF2-40B4-BE49-F238E27FC236}">
                <a16:creationId xmlns:a16="http://schemas.microsoft.com/office/drawing/2014/main" id="{482B17BE-E072-2E99-41B5-B9BE5C9550E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rcRect t="11296" b="35015"/>
          <a:stretch>
            <a:fillRect/>
          </a:stretch>
        </p:blipFill>
        <p:spPr>
          <a:xfrm>
            <a:off x="167147" y="3388059"/>
            <a:ext cx="7067782" cy="3191257"/>
          </a:xfrm>
          <a:prstGeom prst="rect">
            <a:avLst/>
          </a:prstGeom>
        </p:spPr>
      </p:pic>
      <p:pic>
        <p:nvPicPr>
          <p:cNvPr id="10" name="Picture 9" descr="Spike protein from SARS-CoV, with one receptor binding domain (RBD) in the up position, and a closed conformation of the SARS-CoV-2 spike. The S1 fragment is shown in magenta and the S2 fragment in red, with glycosylation in lighter shades.">
            <a:extLst>
              <a:ext uri="{FF2B5EF4-FFF2-40B4-BE49-F238E27FC236}">
                <a16:creationId xmlns:a16="http://schemas.microsoft.com/office/drawing/2014/main" id="{2621340A-6F31-AD3D-FD78-3C396B04D97C}"/>
              </a:ext>
            </a:extLst>
          </p:cNvPr>
          <p:cNvPicPr>
            <a:picLocks noChangeAspect="1"/>
          </p:cNvPicPr>
          <p:nvPr/>
        </p:nvPicPr>
        <p:blipFill>
          <a:blip r:embed="rId4"/>
          <a:srcRect l="51403" t="6089"/>
          <a:stretch>
            <a:fillRect/>
          </a:stretch>
        </p:blipFill>
        <p:spPr>
          <a:xfrm>
            <a:off x="8439912" y="1800241"/>
            <a:ext cx="2534452" cy="4830318"/>
          </a:xfrm>
          <a:prstGeom prst="rect">
            <a:avLst/>
          </a:prstGeom>
        </p:spPr>
      </p:pic>
      <p:sp>
        <p:nvSpPr>
          <p:cNvPr id="11" name="TextBox 10">
            <a:extLst>
              <a:ext uri="{FF2B5EF4-FFF2-40B4-BE49-F238E27FC236}">
                <a16:creationId xmlns:a16="http://schemas.microsoft.com/office/drawing/2014/main" id="{386D0FA0-5334-C7A7-E30C-302C094D4D95}"/>
              </a:ext>
            </a:extLst>
          </p:cNvPr>
          <p:cNvSpPr txBox="1"/>
          <p:nvPr/>
        </p:nvSpPr>
        <p:spPr>
          <a:xfrm>
            <a:off x="8692533" y="1302393"/>
            <a:ext cx="2029210" cy="369332"/>
          </a:xfrm>
          <a:prstGeom prst="rect">
            <a:avLst/>
          </a:prstGeom>
          <a:noFill/>
        </p:spPr>
        <p:txBody>
          <a:bodyPr wrap="none" rtlCol="0">
            <a:spAutoFit/>
          </a:bodyPr>
          <a:lstStyle/>
          <a:p>
            <a:pPr algn="ctr"/>
            <a:r>
              <a:rPr lang="en-US" dirty="0"/>
              <a:t>SARS-CoV-2 </a:t>
            </a:r>
            <a:r>
              <a:rPr lang="en-US" b="1" dirty="0"/>
              <a:t>Spike</a:t>
            </a:r>
          </a:p>
        </p:txBody>
      </p:sp>
    </p:spTree>
    <p:extLst>
      <p:ext uri="{BB962C8B-B14F-4D97-AF65-F5344CB8AC3E}">
        <p14:creationId xmlns:p14="http://schemas.microsoft.com/office/powerpoint/2010/main" val="1236382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7194E-E628-0228-7C11-E2AC079284C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33227C5-D189-0B21-53C4-D63255EB33D0}"/>
              </a:ext>
            </a:extLst>
          </p:cNvPr>
          <p:cNvPicPr>
            <a:picLocks noChangeAspect="1"/>
          </p:cNvPicPr>
          <p:nvPr/>
        </p:nvPicPr>
        <p:blipFill>
          <a:blip r:embed="rId3"/>
          <a:stretch>
            <a:fillRect/>
          </a:stretch>
        </p:blipFill>
        <p:spPr>
          <a:xfrm>
            <a:off x="778328" y="275058"/>
            <a:ext cx="10635343" cy="1650718"/>
          </a:xfrm>
          <a:prstGeom prst="rect">
            <a:avLst/>
          </a:prstGeom>
        </p:spPr>
      </p:pic>
      <p:pic>
        <p:nvPicPr>
          <p:cNvPr id="4" name="Picture 3">
            <a:extLst>
              <a:ext uri="{FF2B5EF4-FFF2-40B4-BE49-F238E27FC236}">
                <a16:creationId xmlns:a16="http://schemas.microsoft.com/office/drawing/2014/main" id="{AC5DD47B-7441-958D-691A-E07CC51B65C9}"/>
              </a:ext>
            </a:extLst>
          </p:cNvPr>
          <p:cNvPicPr>
            <a:picLocks noChangeAspect="1"/>
          </p:cNvPicPr>
          <p:nvPr/>
        </p:nvPicPr>
        <p:blipFill>
          <a:blip r:embed="rId4"/>
          <a:stretch>
            <a:fillRect/>
          </a:stretch>
        </p:blipFill>
        <p:spPr>
          <a:xfrm>
            <a:off x="1383166" y="2533934"/>
            <a:ext cx="9425666" cy="1259535"/>
          </a:xfrm>
          <a:prstGeom prst="rect">
            <a:avLst/>
          </a:prstGeom>
        </p:spPr>
      </p:pic>
      <p:sp>
        <p:nvSpPr>
          <p:cNvPr id="5" name="TextBox 4">
            <a:extLst>
              <a:ext uri="{FF2B5EF4-FFF2-40B4-BE49-F238E27FC236}">
                <a16:creationId xmlns:a16="http://schemas.microsoft.com/office/drawing/2014/main" id="{8566FE6E-3A78-36D0-86F2-3ED486CC0EAD}"/>
              </a:ext>
            </a:extLst>
          </p:cNvPr>
          <p:cNvSpPr txBox="1"/>
          <p:nvPr/>
        </p:nvSpPr>
        <p:spPr>
          <a:xfrm>
            <a:off x="1383166" y="3885259"/>
            <a:ext cx="5453063" cy="276999"/>
          </a:xfrm>
          <a:prstGeom prst="rect">
            <a:avLst/>
          </a:prstGeom>
          <a:noFill/>
        </p:spPr>
        <p:txBody>
          <a:bodyPr wrap="square" rtlCol="0">
            <a:spAutoFit/>
          </a:bodyPr>
          <a:lstStyle/>
          <a:p>
            <a:r>
              <a:rPr lang="en-US" sz="1200" dirty="0"/>
              <a:t>*variant comparison using </a:t>
            </a:r>
            <a:r>
              <a:rPr lang="en-US" sz="1200" dirty="0" err="1"/>
              <a:t>nextclade</a:t>
            </a:r>
            <a:endParaRPr lang="en-US" sz="1200" dirty="0"/>
          </a:p>
        </p:txBody>
      </p:sp>
      <p:sp>
        <p:nvSpPr>
          <p:cNvPr id="2" name="TextBox 1">
            <a:extLst>
              <a:ext uri="{FF2B5EF4-FFF2-40B4-BE49-F238E27FC236}">
                <a16:creationId xmlns:a16="http://schemas.microsoft.com/office/drawing/2014/main" id="{58D22E1A-3504-27D9-EB03-A98A1A8D6672}"/>
              </a:ext>
            </a:extLst>
          </p:cNvPr>
          <p:cNvSpPr txBox="1"/>
          <p:nvPr/>
        </p:nvSpPr>
        <p:spPr>
          <a:xfrm>
            <a:off x="1049264" y="4808047"/>
            <a:ext cx="3223575" cy="923330"/>
          </a:xfrm>
          <a:prstGeom prst="rect">
            <a:avLst/>
          </a:prstGeom>
          <a:noFill/>
        </p:spPr>
        <p:txBody>
          <a:bodyPr wrap="none" rtlCol="0">
            <a:spAutoFit/>
          </a:bodyPr>
          <a:lstStyle/>
          <a:p>
            <a:r>
              <a:rPr lang="en-US" dirty="0"/>
              <a:t>Positive test for Covid-19</a:t>
            </a:r>
          </a:p>
          <a:p>
            <a:r>
              <a:rPr lang="en-US" b="1" dirty="0"/>
              <a:t>BUT</a:t>
            </a:r>
            <a:r>
              <a:rPr lang="en-US" dirty="0"/>
              <a:t> </a:t>
            </a:r>
          </a:p>
          <a:p>
            <a:r>
              <a:rPr lang="en-US" dirty="0"/>
              <a:t>Negative for SARS-CoV-2 Spike</a:t>
            </a:r>
          </a:p>
        </p:txBody>
      </p:sp>
      <p:sp>
        <p:nvSpPr>
          <p:cNvPr id="6" name="Right Arrow 5">
            <a:extLst>
              <a:ext uri="{FF2B5EF4-FFF2-40B4-BE49-F238E27FC236}">
                <a16:creationId xmlns:a16="http://schemas.microsoft.com/office/drawing/2014/main" id="{0550F073-7E33-42B3-FFD7-91E4707AD3B3}"/>
              </a:ext>
            </a:extLst>
          </p:cNvPr>
          <p:cNvSpPr/>
          <p:nvPr/>
        </p:nvSpPr>
        <p:spPr>
          <a:xfrm>
            <a:off x="5565424" y="4955310"/>
            <a:ext cx="801511" cy="628799"/>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TextBox 6">
            <a:extLst>
              <a:ext uri="{FF2B5EF4-FFF2-40B4-BE49-F238E27FC236}">
                <a16:creationId xmlns:a16="http://schemas.microsoft.com/office/drawing/2014/main" id="{6E8D3138-D863-7A9D-071B-A34CA2118625}"/>
              </a:ext>
            </a:extLst>
          </p:cNvPr>
          <p:cNvSpPr txBox="1"/>
          <p:nvPr/>
        </p:nvSpPr>
        <p:spPr>
          <a:xfrm>
            <a:off x="7536142" y="4946545"/>
            <a:ext cx="3223574" cy="646331"/>
          </a:xfrm>
          <a:prstGeom prst="rect">
            <a:avLst/>
          </a:prstGeom>
          <a:noFill/>
        </p:spPr>
        <p:txBody>
          <a:bodyPr wrap="square" rtlCol="0">
            <a:spAutoFit/>
          </a:bodyPr>
          <a:lstStyle/>
          <a:p>
            <a:r>
              <a:rPr lang="en-US" dirty="0"/>
              <a:t>Further investigation and identification of novel variant!</a:t>
            </a:r>
          </a:p>
        </p:txBody>
      </p:sp>
    </p:spTree>
    <p:extLst>
      <p:ext uri="{BB962C8B-B14F-4D97-AF65-F5344CB8AC3E}">
        <p14:creationId xmlns:p14="http://schemas.microsoft.com/office/powerpoint/2010/main" val="3034514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fade">
                                      <p:cBhvr>
                                        <p:cTn id="15" dur="500"/>
                                        <p:tgtEl>
                                          <p:spTgt spid="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 grpId="0"/>
      <p:bldP spid="6" grpId="0" animBg="1"/>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6DC1976-F520-6023-CE33-3B4D63621AF7}"/>
              </a:ext>
            </a:extLst>
          </p:cNvPr>
          <p:cNvSpPr txBox="1"/>
          <p:nvPr/>
        </p:nvSpPr>
        <p:spPr>
          <a:xfrm>
            <a:off x="167148" y="227441"/>
            <a:ext cx="11057129" cy="1200329"/>
          </a:xfrm>
          <a:prstGeom prst="rect">
            <a:avLst/>
          </a:prstGeom>
          <a:noFill/>
        </p:spPr>
        <p:txBody>
          <a:bodyPr wrap="none" rtlCol="0">
            <a:spAutoFit/>
          </a:bodyPr>
          <a:lstStyle/>
          <a:p>
            <a:r>
              <a:rPr lang="en-US" sz="3600" dirty="0"/>
              <a:t>Quickly responding and adapting to ongoing epidemics</a:t>
            </a:r>
          </a:p>
          <a:p>
            <a:r>
              <a:rPr lang="en-US" sz="3600" dirty="0"/>
              <a:t>is only possible with open knowledge and data</a:t>
            </a:r>
          </a:p>
        </p:txBody>
      </p:sp>
      <p:pic>
        <p:nvPicPr>
          <p:cNvPr id="3" name="Graphic 2" descr="NIH NLM Logo">
            <a:extLst>
              <a:ext uri="{FF2B5EF4-FFF2-40B4-BE49-F238E27FC236}">
                <a16:creationId xmlns:a16="http://schemas.microsoft.com/office/drawing/2014/main" id="{6B3D0F52-3053-DBC8-704B-55357D18F3B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7688" y="1874225"/>
            <a:ext cx="6321646" cy="751987"/>
          </a:xfrm>
          <a:prstGeom prst="rect">
            <a:avLst/>
          </a:prstGeom>
        </p:spPr>
      </p:pic>
      <p:pic>
        <p:nvPicPr>
          <p:cNvPr id="4" name="Picture 3">
            <a:extLst>
              <a:ext uri="{FF2B5EF4-FFF2-40B4-BE49-F238E27FC236}">
                <a16:creationId xmlns:a16="http://schemas.microsoft.com/office/drawing/2014/main" id="{C5688CDC-FF59-A079-4774-90C2188E7C6D}"/>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211823" y="2886728"/>
            <a:ext cx="1756265" cy="844358"/>
          </a:xfrm>
          <a:prstGeom prst="rect">
            <a:avLst/>
          </a:prstGeom>
        </p:spPr>
      </p:pic>
      <p:pic>
        <p:nvPicPr>
          <p:cNvPr id="5" name="Graphic 4" descr="ENA Browser">
            <a:extLst>
              <a:ext uri="{FF2B5EF4-FFF2-40B4-BE49-F238E27FC236}">
                <a16:creationId xmlns:a16="http://schemas.microsoft.com/office/drawing/2014/main" id="{D94CF9C0-037D-4B67-1517-49876F2B2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36854" y="3731086"/>
            <a:ext cx="4593166" cy="1312333"/>
          </a:xfrm>
          <a:prstGeom prst="rect">
            <a:avLst/>
          </a:prstGeom>
        </p:spPr>
      </p:pic>
      <p:pic>
        <p:nvPicPr>
          <p:cNvPr id="6" name="Graphic 5" descr="icon">
            <a:extLst>
              <a:ext uri="{FF2B5EF4-FFF2-40B4-BE49-F238E27FC236}">
                <a16:creationId xmlns:a16="http://schemas.microsoft.com/office/drawing/2014/main" id="{DC82F305-B136-D68E-3B80-947CA60C63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0" y="5585695"/>
            <a:ext cx="868080" cy="842593"/>
          </a:xfrm>
          <a:prstGeom prst="rect">
            <a:avLst/>
          </a:prstGeom>
        </p:spPr>
      </p:pic>
      <p:sp>
        <p:nvSpPr>
          <p:cNvPr id="7" name="TextBox 6">
            <a:extLst>
              <a:ext uri="{FF2B5EF4-FFF2-40B4-BE49-F238E27FC236}">
                <a16:creationId xmlns:a16="http://schemas.microsoft.com/office/drawing/2014/main" id="{83844E46-10F5-16F6-DA09-C7EC56FFCB10}"/>
              </a:ext>
            </a:extLst>
          </p:cNvPr>
          <p:cNvSpPr txBox="1"/>
          <p:nvPr/>
        </p:nvSpPr>
        <p:spPr>
          <a:xfrm>
            <a:off x="6964080" y="5786867"/>
            <a:ext cx="2785378" cy="646331"/>
          </a:xfrm>
          <a:prstGeom prst="rect">
            <a:avLst/>
          </a:prstGeom>
          <a:noFill/>
        </p:spPr>
        <p:txBody>
          <a:bodyPr wrap="none" rtlCol="0">
            <a:spAutoFit/>
          </a:bodyPr>
          <a:lstStyle/>
          <a:p>
            <a:r>
              <a:rPr lang="en-US" sz="3600" b="1" dirty="0" err="1">
                <a:solidFill>
                  <a:srgbClr val="227DAE"/>
                </a:solidFill>
              </a:rPr>
              <a:t>Pathoplexus</a:t>
            </a:r>
            <a:endParaRPr lang="en-US" sz="3600" b="1" dirty="0">
              <a:solidFill>
                <a:srgbClr val="227DAE"/>
              </a:solidFill>
            </a:endParaRPr>
          </a:p>
        </p:txBody>
      </p:sp>
    </p:spTree>
    <p:extLst>
      <p:ext uri="{BB962C8B-B14F-4D97-AF65-F5344CB8AC3E}">
        <p14:creationId xmlns:p14="http://schemas.microsoft.com/office/powerpoint/2010/main" val="2087896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6D1F98-1C40-13E1-8DA7-D85953B31010}"/>
              </a:ext>
            </a:extLst>
          </p:cNvPr>
          <p:cNvSpPr txBox="1"/>
          <p:nvPr/>
        </p:nvSpPr>
        <p:spPr>
          <a:xfrm>
            <a:off x="167148" y="227441"/>
            <a:ext cx="2807307" cy="646331"/>
          </a:xfrm>
          <a:prstGeom prst="rect">
            <a:avLst/>
          </a:prstGeom>
          <a:noFill/>
        </p:spPr>
        <p:txBody>
          <a:bodyPr wrap="none" rtlCol="0">
            <a:spAutoFit/>
          </a:bodyPr>
          <a:lstStyle/>
          <a:p>
            <a:r>
              <a:rPr lang="en-US" sz="3600" dirty="0"/>
              <a:t>SIB </a:t>
            </a:r>
            <a:r>
              <a:rPr lang="en-US" sz="3600" dirty="0" err="1"/>
              <a:t>Datarium</a:t>
            </a:r>
            <a:endParaRPr lang="en-US" sz="3600" dirty="0"/>
          </a:p>
        </p:txBody>
      </p:sp>
      <p:pic>
        <p:nvPicPr>
          <p:cNvPr id="4" name="Picture 3">
            <a:extLst>
              <a:ext uri="{FF2B5EF4-FFF2-40B4-BE49-F238E27FC236}">
                <a16:creationId xmlns:a16="http://schemas.microsoft.com/office/drawing/2014/main" id="{8F78C378-831F-1EC5-357A-F60D8DB8927C}"/>
              </a:ext>
            </a:extLst>
          </p:cNvPr>
          <p:cNvPicPr>
            <a:picLocks noChangeAspect="1"/>
          </p:cNvPicPr>
          <p:nvPr/>
        </p:nvPicPr>
        <p:blipFill>
          <a:blip r:embed="rId3"/>
          <a:srcRect l="3062" t="15693" r="3119" b="6049"/>
          <a:stretch>
            <a:fillRect/>
          </a:stretch>
        </p:blipFill>
        <p:spPr>
          <a:xfrm>
            <a:off x="700742" y="991637"/>
            <a:ext cx="10790515" cy="5559409"/>
          </a:xfrm>
          <a:prstGeom prst="rect">
            <a:avLst/>
          </a:prstGeom>
        </p:spPr>
      </p:pic>
      <p:sp>
        <p:nvSpPr>
          <p:cNvPr id="5" name="TextBox 4">
            <a:extLst>
              <a:ext uri="{FF2B5EF4-FFF2-40B4-BE49-F238E27FC236}">
                <a16:creationId xmlns:a16="http://schemas.microsoft.com/office/drawing/2014/main" id="{9759CD3E-54F2-E2E7-B643-55D4134C1F10}"/>
              </a:ext>
            </a:extLst>
          </p:cNvPr>
          <p:cNvSpPr txBox="1"/>
          <p:nvPr/>
        </p:nvSpPr>
        <p:spPr>
          <a:xfrm>
            <a:off x="8435542" y="227440"/>
            <a:ext cx="3238965" cy="646331"/>
          </a:xfrm>
          <a:prstGeom prst="rect">
            <a:avLst/>
          </a:prstGeom>
          <a:noFill/>
        </p:spPr>
        <p:txBody>
          <a:bodyPr wrap="none" rtlCol="0">
            <a:spAutoFit/>
          </a:bodyPr>
          <a:lstStyle/>
          <a:p>
            <a:pPr algn="r"/>
            <a:r>
              <a:rPr lang="en-US" sz="3600" dirty="0" err="1">
                <a:solidFill>
                  <a:schemeClr val="tx2">
                    <a:lumMod val="50000"/>
                    <a:lumOff val="50000"/>
                  </a:schemeClr>
                </a:solidFill>
              </a:rPr>
              <a:t>datarium.ch</a:t>
            </a:r>
            <a:r>
              <a:rPr lang="en-US" sz="3600" dirty="0">
                <a:solidFill>
                  <a:schemeClr val="tx2">
                    <a:lumMod val="50000"/>
                    <a:lumOff val="50000"/>
                  </a:schemeClr>
                </a:solidFill>
              </a:rPr>
              <a:t>/de</a:t>
            </a:r>
          </a:p>
        </p:txBody>
      </p:sp>
    </p:spTree>
    <p:extLst>
      <p:ext uri="{BB962C8B-B14F-4D97-AF65-F5344CB8AC3E}">
        <p14:creationId xmlns:p14="http://schemas.microsoft.com/office/powerpoint/2010/main" val="15133202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E700606-0399-9650-DD9A-93067C679FA0}"/>
              </a:ext>
            </a:extLst>
          </p:cNvPr>
          <p:cNvSpPr txBox="1"/>
          <p:nvPr/>
        </p:nvSpPr>
        <p:spPr>
          <a:xfrm>
            <a:off x="2074707" y="243343"/>
            <a:ext cx="8042586" cy="646331"/>
          </a:xfrm>
          <a:prstGeom prst="rect">
            <a:avLst/>
          </a:prstGeom>
          <a:noFill/>
        </p:spPr>
        <p:txBody>
          <a:bodyPr wrap="none" rtlCol="0">
            <a:spAutoFit/>
          </a:bodyPr>
          <a:lstStyle/>
          <a:p>
            <a:pPr algn="ctr"/>
            <a:r>
              <a:rPr lang="en-US" sz="3600" dirty="0"/>
              <a:t>Time for you to do some bioinformatics!</a:t>
            </a:r>
          </a:p>
        </p:txBody>
      </p:sp>
      <p:sp>
        <p:nvSpPr>
          <p:cNvPr id="4" name="TextBox 3">
            <a:extLst>
              <a:ext uri="{FF2B5EF4-FFF2-40B4-BE49-F238E27FC236}">
                <a16:creationId xmlns:a16="http://schemas.microsoft.com/office/drawing/2014/main" id="{700898B6-87AA-E10A-1795-4823A27E4C19}"/>
              </a:ext>
            </a:extLst>
          </p:cNvPr>
          <p:cNvSpPr txBox="1"/>
          <p:nvPr/>
        </p:nvSpPr>
        <p:spPr>
          <a:xfrm>
            <a:off x="3046675" y="1164445"/>
            <a:ext cx="6098650" cy="523220"/>
          </a:xfrm>
          <a:prstGeom prst="rect">
            <a:avLst/>
          </a:prstGeom>
          <a:noFill/>
        </p:spPr>
        <p:txBody>
          <a:bodyPr wrap="square">
            <a:spAutoFit/>
          </a:bodyPr>
          <a:lstStyle/>
          <a:p>
            <a:pPr algn="ctr"/>
            <a:r>
              <a:rPr lang="en-US" sz="2800" dirty="0">
                <a:hlinkClick r:id="rId2"/>
              </a:rPr>
              <a:t>https://kurzlink.ch/scov2</a:t>
            </a:r>
            <a:endParaRPr lang="en-US" sz="2800" dirty="0"/>
          </a:p>
        </p:txBody>
      </p:sp>
      <p:pic>
        <p:nvPicPr>
          <p:cNvPr id="6" name="Picture 5">
            <a:extLst>
              <a:ext uri="{FF2B5EF4-FFF2-40B4-BE49-F238E27FC236}">
                <a16:creationId xmlns:a16="http://schemas.microsoft.com/office/drawing/2014/main" id="{176B3E55-1F31-F05D-8DC5-5F35FCC3B09A}"/>
              </a:ext>
            </a:extLst>
          </p:cNvPr>
          <p:cNvPicPr>
            <a:picLocks noChangeAspect="1"/>
          </p:cNvPicPr>
          <p:nvPr/>
        </p:nvPicPr>
        <p:blipFill>
          <a:blip r:embed="rId3"/>
          <a:stretch>
            <a:fillRect/>
          </a:stretch>
        </p:blipFill>
        <p:spPr>
          <a:xfrm>
            <a:off x="1668743" y="1962436"/>
            <a:ext cx="8854514" cy="4465952"/>
          </a:xfrm>
          <a:prstGeom prst="rect">
            <a:avLst/>
          </a:prstGeom>
        </p:spPr>
      </p:pic>
    </p:spTree>
    <p:extLst>
      <p:ext uri="{BB962C8B-B14F-4D97-AF65-F5344CB8AC3E}">
        <p14:creationId xmlns:p14="http://schemas.microsoft.com/office/powerpoint/2010/main" val="17155941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18296</TotalTime>
  <Words>818</Words>
  <Application>Microsoft Macintosh PowerPoint</Application>
  <PresentationFormat>Widescreen</PresentationFormat>
  <Paragraphs>106</Paragraphs>
  <Slides>18</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Julius Winter</dc:creator>
  <cp:lastModifiedBy>Julius Winter</cp:lastModifiedBy>
  <cp:revision>20</cp:revision>
  <dcterms:created xsi:type="dcterms:W3CDTF">2026-09-18T09:20:08Z</dcterms:created>
  <dcterms:modified xsi:type="dcterms:W3CDTF">2026-10-15T15:08:57Z</dcterms:modified>
</cp:coreProperties>
</file>